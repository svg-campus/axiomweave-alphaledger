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fcc46b04d9407b" /><Relationship Type="http://schemas.openxmlformats.org/officeDocument/2006/relationships/extended-properties" Target="/docProps/app.xml" Id="Rd49e21c9c9f44614" /><Relationship Type="http://schemas.openxmlformats.org/officeDocument/2006/relationships/officeDocument" Target="/ppt/presentation.xml" Id="Rc92bdf9f39e94eba" /></Relationships>
</file>

<file path=ppt/presentation.xml><?xml version="1.0" encoding="utf-8"?>
<p:presentation xmlns:p="http://schemas.openxmlformats.org/presentationml/2006/main">
  <p:sldMasterIdLst>
    <p:sldMasterId xmlns:r="http://schemas.openxmlformats.org/officeDocument/2006/relationships" id="2147483648" r:id="R111924100b224d3e"/>
  </p:sldMasterIdLst>
  <p:notesMasterIdLst>
    <p:notesMasterId xmlns:r="http://schemas.openxmlformats.org/officeDocument/2006/relationships" r:id="Rbc75f72763124991"/>
  </p:notesMasterIdLst>
  <p:sldIdLst>
    <p:sldId xmlns:r="http://schemas.openxmlformats.org/officeDocument/2006/relationships" id="256" r:id="R0e7ad10b42c041ff"/>
    <p:sldId xmlns:r="http://schemas.openxmlformats.org/officeDocument/2006/relationships" id="257" r:id="R2e6e07f3b44345d3"/>
    <p:sldId xmlns:r="http://schemas.openxmlformats.org/officeDocument/2006/relationships" id="258" r:id="R24a221450e0241b3"/>
    <p:sldId xmlns:r="http://schemas.openxmlformats.org/officeDocument/2006/relationships" id="259" r:id="R1f6bc7e8d864430b"/>
    <p:sldId xmlns:r="http://schemas.openxmlformats.org/officeDocument/2006/relationships" id="260" r:id="Rf8fb1b912f5b4c84"/>
    <p:sldId xmlns:r="http://schemas.openxmlformats.org/officeDocument/2006/relationships" id="261" r:id="Rd1ab27521a8f4335"/>
    <p:sldId xmlns:r="http://schemas.openxmlformats.org/officeDocument/2006/relationships" id="262" r:id="R36b2a47454554c28"/>
    <p:sldId xmlns:r="http://schemas.openxmlformats.org/officeDocument/2006/relationships" id="263" r:id="Rd938a0a5dc244445"/>
    <p:sldId xmlns:r="http://schemas.openxmlformats.org/officeDocument/2006/relationships" id="264" r:id="R69237f2b69f044ea"/>
    <p:sldId xmlns:r="http://schemas.openxmlformats.org/officeDocument/2006/relationships" id="265" r:id="R0153067b5b0f4d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b414535fd04e3a" /><Relationship Type="http://schemas.openxmlformats.org/officeDocument/2006/relationships/slideMaster" Target="/ppt/slideMasters/slideMaster1.xml" Id="R111924100b224d3e" /><Relationship Type="http://schemas.openxmlformats.org/officeDocument/2006/relationships/notesMaster" Target="/ppt/notesMasters/notesMaster1.xml" Id="Rbc75f72763124991" /><Relationship Type="http://schemas.openxmlformats.org/officeDocument/2006/relationships/presProps" Target="/ppt/presProps.xml" Id="Ra18e6aa69d8644ac" /><Relationship Type="http://schemas.openxmlformats.org/officeDocument/2006/relationships/tableStyles" Target="/ppt/tableStyles.xml" Id="R1195de9b9c6746db" /><Relationship Type="http://schemas.openxmlformats.org/officeDocument/2006/relationships/slide" Target="/ppt/slides/slide1.xml" Id="R0e7ad10b42c041ff" /><Relationship Type="http://schemas.openxmlformats.org/officeDocument/2006/relationships/slide" Target="/ppt/slides/slide2.xml" Id="R2e6e07f3b44345d3" /><Relationship Type="http://schemas.openxmlformats.org/officeDocument/2006/relationships/slide" Target="/ppt/slides/slide3.xml" Id="R24a221450e0241b3" /><Relationship Type="http://schemas.openxmlformats.org/officeDocument/2006/relationships/slide" Target="/ppt/slides/slide4.xml" Id="R1f6bc7e8d864430b" /><Relationship Type="http://schemas.openxmlformats.org/officeDocument/2006/relationships/slide" Target="/ppt/slides/slide5.xml" Id="Rf8fb1b912f5b4c84" /><Relationship Type="http://schemas.openxmlformats.org/officeDocument/2006/relationships/slide" Target="/ppt/slides/slide6.xml" Id="Rd1ab27521a8f4335" /><Relationship Type="http://schemas.openxmlformats.org/officeDocument/2006/relationships/slide" Target="/ppt/slides/slide7.xml" Id="R36b2a47454554c28" /><Relationship Type="http://schemas.openxmlformats.org/officeDocument/2006/relationships/slide" Target="/ppt/slides/slide8.xml" Id="Rd938a0a5dc244445" /><Relationship Type="http://schemas.openxmlformats.org/officeDocument/2006/relationships/slide" Target="/ppt/slides/slide9.xml" Id="R69237f2b69f044ea" /><Relationship Type="http://schemas.openxmlformats.org/officeDocument/2006/relationships/slide" Target="/ppt/slides/slide10.xml" Id="R0153067b5b0f4d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832608031a46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b6bb7ddfe42f7" /><Relationship Type="http://schemas.openxmlformats.org/officeDocument/2006/relationships/notesMaster" Target="/ppt/notesMasters/notesMaster1.xml" Id="R28a25cb5a1b14a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ca0a0f1b314243" /><Relationship Type="http://schemas.openxmlformats.org/officeDocument/2006/relationships/notesMaster" Target="/ppt/notesMasters/notesMaster1.xml" Id="Rbe6fd57b010f44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2f3a500b794035" /><Relationship Type="http://schemas.openxmlformats.org/officeDocument/2006/relationships/notesMaster" Target="/ppt/notesMasters/notesMaster1.xml" Id="R9f1722cb817048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221bf44ff34159" /><Relationship Type="http://schemas.openxmlformats.org/officeDocument/2006/relationships/notesMaster" Target="/ppt/notesMasters/notesMaster1.xml" Id="Rf1fe8199a4d649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05ca67d31d48e4" /><Relationship Type="http://schemas.openxmlformats.org/officeDocument/2006/relationships/notesMaster" Target="/ppt/notesMasters/notesMaster1.xml" Id="R2d0342337a3e40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a2ada739924f74" /><Relationship Type="http://schemas.openxmlformats.org/officeDocument/2006/relationships/notesMaster" Target="/ppt/notesMasters/notesMaster1.xml" Id="R85e9f900f8c748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a8c161b9114815" /><Relationship Type="http://schemas.openxmlformats.org/officeDocument/2006/relationships/notesMaster" Target="/ppt/notesMasters/notesMaster1.xml" Id="Rdd4e791310f344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4cc5068e14adc" /><Relationship Type="http://schemas.openxmlformats.org/officeDocument/2006/relationships/notesMaster" Target="/ppt/notesMasters/notesMaster1.xml" Id="R728bd13052b647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25045f8b084d4c" /><Relationship Type="http://schemas.openxmlformats.org/officeDocument/2006/relationships/notesMaster" Target="/ppt/notesMasters/notesMaster1.xml" Id="R64c2934bb4b14f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094b7a83d14c2d" /><Relationship Type="http://schemas.openxmlformats.org/officeDocument/2006/relationships/notesMaster" Target="/ppt/notesMasters/notesMaster1.xml" Id="R3194cb6a41d943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one sentence: AlphaLedger is the options agent that can prove why it refused a trade, not only explain one it planned.</a:t>
            </a:r>
          </a:p>
          <a:p xmlns:a="http://schemas.openxmlformats.org/drawingml/2006/main">
            <a:r>
              <a:t/>
            </a:r>
          </a:p>
          <a:p xmlns:a="http://schemas.openxmlformats.org/drawingml/2006/main">
            <a:r>
              <a:t>[Sources]</a:t>
            </a:r>
          </a:p>
          <a:p xmlns:a="http://schemas.openxmlformats.org/drawingml/2006/main">
            <a:r>
              <a:t>- Local generated asset: assets/alphaledger-cover.png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around options risk, not market prediction. The live hub exposes the Options Alpha Agents track; our entry focuses on the deterministic control surface an AI options agent needs.</a:t>
            </a:r>
          </a:p>
          <a:p xmlns:a="http://schemas.openxmlformats.org/drawingml/2006/main">
            <a:r>
              <a:t/>
            </a:r>
          </a:p>
          <a:p xmlns:a="http://schemas.openxmlformats.org/drawingml/2006/main">
            <a:r>
              <a:t>[Sources]</a:t>
            </a:r>
          </a:p>
          <a:p xmlns:a="http://schemas.openxmlformats.org/drawingml/2006/main">
            <a:r>
              <a:t>- https://lablab.ai/ai-hackathons/alpaca-ai-trading-agents-hackathon</a:t>
            </a:r>
          </a:p>
          <a:p xmlns:a="http://schemas.openxmlformats.org/drawingml/2006/main">
            <a:r>
              <a:t>-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working screen. Read the four outputs: CALL DEBIT, $20 maximum loss, PASS, SIMULATED. Point to the two legs and state that no broker request was made.</a:t>
            </a:r>
          </a:p>
          <a:p xmlns:a="http://schemas.openxmlformats.org/drawingml/2006/main">
            <a:r>
              <a:t/>
            </a:r>
          </a:p>
          <a:p xmlns:a="http://schemas.openxmlformats.org/drawingml/2006/main">
            <a:r>
              <a:t>[Sources]</a:t>
            </a:r>
          </a:p>
          <a:p xmlns:a="http://schemas.openxmlformats.org/drawingml/2006/main">
            <a:r>
              <a:t>- Local browser-verified screenshot: artifacts/options-dashboard-pass.png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reader now retrieves complete contracts and snapshot pages using unchanged filters. It rejects duplicate symbols, repeated tokens, transport errors, incomplete pages, or exceeded page/record/time budgets. AI remains optional and veto-only.</a:t>
            </a:r>
          </a:p>
          <a:p xmlns:a="http://schemas.openxmlformats.org/drawingml/2006/main">
            <a:r>
              <a:t/>
            </a:r>
          </a:p>
          <a:p xmlns:a="http://schemas.openxmlformats.org/drawingml/2006/main">
            <a:r>
              <a:t>[Sources]</a:t>
            </a:r>
          </a:p>
          <a:p xmlns:a="http://schemas.openxmlformats.org/drawingml/2006/main">
            <a:r>
              <a:t>- src/alphaledger/alpaca_readonly.py</a:t>
            </a:r>
          </a:p>
          <a:p xmlns:a="http://schemas.openxmlformats.org/drawingml/2006/main">
            <a:r>
              <a:t>- https://docs.alpaca.markets/us/reference/get-options-contracts</a:t>
            </a:r>
          </a:p>
          <a:p xmlns:a="http://schemas.openxmlformats.org/drawingml/2006/main">
            <a:r>
              <a:t>- https://docs.alpaca.markets/us/reference/optionchain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centerpiece. Run the valid option spread, then switch only evidence age. At 900 seconds both contracts cross the 180-second hard stop, no multi-leg payload exists, and the abstention is ledgered.</a:t>
            </a:r>
          </a:p>
          <a:p xmlns:a="http://schemas.openxmlformats.org/drawingml/2006/main">
            <a:r>
              <a:t/>
            </a:r>
          </a:p>
          <a:p xmlns:a="http://schemas.openxmlformats.org/drawingml/2006/main">
            <a:r>
              <a:t>[Sources]</a:t>
            </a:r>
          </a:p>
          <a:p xmlns:a="http://schemas.openxmlformats.org/drawingml/2006/main">
            <a:r>
              <a:t>- Local source: app.py</a:t>
            </a:r>
          </a:p>
          <a:p xmlns:a="http://schemas.openxmlformats.org/drawingml/2006/main">
            <a:r>
              <a:t>- Local source: tests/test_options.py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competition policy: new SPY call/put debit-spread entries Monday through Thursday, 10:20–14:30 ET, at most one attempt per session. Maximum planned loss $250, daily drawdown stop $500, total drawdown stop $1,000, maximum hold 45 minutes, +25% take-profit and -20% stop-loss triggers. These are controller rules, not guarantees that a fill or exit is available. Default force-flat Thursday September 3 at 15:45 ET. Organizer scoring basis is total equity as of EOD Thursday, including Thursday-expiry exercise and assignment. Policy and executor hashes were unchanged by the pagination repair.</a:t>
            </a:r>
          </a:p>
          <a:p xmlns:a="http://schemas.openxmlformats.org/drawingml/2006/main">
            <a:r>
              <a:t/>
            </a:r>
          </a:p>
          <a:p xmlns:a="http://schemas.openxmlformats.org/drawingml/2006/main">
            <a:r>
              <a:t>[Sources]</a:t>
            </a:r>
          </a:p>
          <a:p xmlns:a="http://schemas.openxmlformats.org/drawingml/2006/main">
            <a:r>
              <a:t>- src/alphaledger/competition.py</a:t>
            </a:r>
          </a:p>
          <a:p xmlns:a="http://schemas.openxmlformats.org/drawingml/2006/main">
            <a:r>
              <a:t>- src/alphaledger/competition_runner.py</a:t>
            </a:r>
          </a:p>
          <a:p xmlns:a="http://schemas.openxmlformats.org/drawingml/2006/main">
            <a:r>
              <a:t>- evidence/competition-window-decision.json</a:t>
            </a:r>
          </a:p>
          <a:p xmlns:a="http://schemas.openxmlformats.org/drawingml/2006/main">
            <a:r>
              <a:t>- evidence/incidents/2026-08-31-options-pagination.json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 local tests passed on August 31. The same suite on the VM passed 101 and skipped the Windows-only PowerShell test. This is C1 mechanics, not alpha. A 60-day five-minute study had only 16 held-out fallback observations; mean directional proxy 2.068468 bps did not exceed standard error 2.281778 bps, and minus-5-bps stress was negative. The hourly candidate failed untouched test. No tested strategy earned promotion. Authenticated current paper operations are C2 observations, not future performance.</a:t>
            </a:r>
          </a:p>
          <a:p xmlns:a="http://schemas.openxmlformats.org/drawingml/2006/main">
            <a:r>
              <a:t/>
            </a:r>
          </a:p>
          <a:p xmlns:a="http://schemas.openxmlformats.org/drawingml/2006/main">
            <a:r>
              <a:t>[Sources]</a:t>
            </a:r>
          </a:p>
          <a:p xmlns:a="http://schemas.openxmlformats.org/drawingml/2006/main">
            <a:r>
              <a:t>- evidence/verification-receipt.json</a:t>
            </a:r>
          </a:p>
          <a:p xmlns:a="http://schemas.openxmlformats.org/drawingml/2006/main">
            <a:r>
              <a:t>- evidence/signal-benchmark-receipt.json</a:t>
            </a:r>
          </a:p>
          <a:p xmlns:a="http://schemas.openxmlformats.org/drawingml/2006/main">
            <a:r>
              <a:t>- evidence/hourly-regime-benchmark-receipt.json</a:t>
            </a:r>
          </a:p>
          <a:p xmlns:a="http://schemas.openxmlformats.org/drawingml/2006/main">
            <a:r>
              <a:t>- evidence/incidents/2026-08-31-options-pagination.json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August 31 the first logged options-data failure was 07:21:58 Pacific. The hourly monitor detected repeated errors at 07:33:59 and reproduced incomplete pagination at 07:35:11. Repair verification completed at 07:58:38, 36 minutes 40 seconds after first failure. Service pause was 19.44 seconds. Complete two-page retrieval returned 1,041 contracts. The first post-restart cycle was a valid neutral-signal abstention. No orders, positions, or account loss were observed through recovery; forgone profitable opportunity is unknown. This is an incident report, not final competition performance.</a:t>
            </a:r>
          </a:p>
          <a:p xmlns:a="http://schemas.openxmlformats.org/drawingml/2006/main">
            <a:r>
              <a:t/>
            </a:r>
          </a:p>
          <a:p xmlns:a="http://schemas.openxmlformats.org/drawingml/2006/main">
            <a:r>
              <a:t>[Sources]</a:t>
            </a:r>
          </a:p>
          <a:p xmlns:a="http://schemas.openxmlformats.org/drawingml/2006/main">
            <a:r>
              <a:t>- docs/INCIDENT_2026-08-31_PAGINATION.md</a:t>
            </a:r>
          </a:p>
          <a:p xmlns:a="http://schemas.openxmlformats.org/drawingml/2006/main">
            <a:r>
              <a:t>- evidence/incidents/2026-08-31-options-pagination.json</a:t>
            </a:r>
          </a:p>
          <a:p xmlns:a="http://schemas.openxmlformats.org/drawingml/2006/main">
            <a:r>
              <a:t>- evidence/public-operation-status.json</a:t>
            </a:r>
          </a:p>
          <a:p xmlns:a="http://schemas.openxmlformats.org/drawingml/2006/main">
            <a:r>
              <a:t>- https://docs.alpaca.markets/us/reference/get-options-contracts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prospective users and product hypotheses, not established customers or willingness-to-pay evidence. The public demo is credential-free. The private paper runner is separately activated with exact-account and risk gates.</a:t>
            </a:r>
          </a:p>
          <a:p xmlns:a="http://schemas.openxmlformats.org/drawingml/2006/main">
            <a:r>
              <a:t/>
            </a:r>
          </a:p>
          <a:p xmlns:a="http://schemas.openxmlformats.org/drawingml/2006/main">
            <a:r>
              <a:t>[Sources]</a:t>
            </a:r>
          </a:p>
          <a:p xmlns:a="http://schemas.openxmlformats.org/drawingml/2006/main">
            <a:r>
              <a:t>- docs/ONE_PAGE_WRITEUP.md</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judges to inspect the public demo and code, including the preserved failure. Final results must use reconciled Thursday EOD equity, not the interim recovery snapshot. The final video and LabLab submission remain owner-reviewed actions. No probability of winning is established.</a:t>
            </a:r>
          </a:p>
          <a:p xmlns:a="http://schemas.openxmlformats.org/drawingml/2006/main">
            <a:r>
              <a:t/>
            </a:r>
          </a:p>
          <a:p xmlns:a="http://schemas.openxmlformats.org/drawingml/2006/main">
            <a:r>
              <a:t>[Sources]</a:t>
            </a:r>
          </a:p>
          <a:p xmlns:a="http://schemas.openxmlformats.org/drawingml/2006/main">
            <a:r>
              <a:t>- docs/SUBMISSION_WALKTHROUGH.md</a:t>
            </a:r>
          </a:p>
          <a:p xmlns:a="http://schemas.openxmlformats.org/drawingml/2006/main">
            <a:r>
              <a:t>- docs/RESOURCE_UPDATE_CHECKLIST.md</a:t>
            </a:r>
          </a:p>
          <a:p xmlns:a="http://schemas.openxmlformats.org/drawingml/2006/main">
            <a:r>
              <a:t>- evidence/competition-window-decision.json</a:t>
            </a:r>
          </a:p>
          <a:p xmlns:a="http://schemas.openxmlformats.org/drawingml/2006/main">
            <a:r>
              <a:t>- http://34.27.11.180</a:t>
            </a:r>
          </a:p>
          <a:p xmlns:a="http://schemas.openxmlformats.org/drawingml/2006/main">
            <a:r>
              <a:t>- https://github.com/SVG-campus/axiomweave-alphaledger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f1219703d241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21ad71c89f4104" /><Relationship Type="http://schemas.openxmlformats.org/officeDocument/2006/relationships/slideLayout" Target="/ppt/slideLayouts/slideLayout1.xml" Id="R3b344adab9124d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344adab9124d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42212f46a14f57" /><Relationship Type="http://schemas.openxmlformats.org/officeDocument/2006/relationships/image" Target="/ppt/media/image.png" Id="Re38acdf8a1394aa6" /><Relationship Type="http://schemas.openxmlformats.org/officeDocument/2006/relationships/notesSlide" Target="/ppt/notesSlides/notesSlide1.xml" Id="Rc2e9cf39a8cc43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d2b750d1804cbb" /><Relationship Type="http://schemas.openxmlformats.org/officeDocument/2006/relationships/notesSlide" Target="/ppt/notesSlides/notesSlide2.xml" Id="Rd8947d0ad36e42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dab12c46c1477b" /><Relationship Type="http://schemas.openxmlformats.org/officeDocument/2006/relationships/image" Target="/ppt/media/image2.png" Id="R9f2d3cd18a7d4743" /><Relationship Type="http://schemas.openxmlformats.org/officeDocument/2006/relationships/notesSlide" Target="/ppt/notesSlides/notesSlide3.xml" Id="R352ee5c2a3384e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d7cdf11e6c452d" /><Relationship Type="http://schemas.openxmlformats.org/officeDocument/2006/relationships/notesSlide" Target="/ppt/notesSlides/notesSlide4.xml" Id="R6f1acb066f1c4e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d4e69c391746ad" /><Relationship Type="http://schemas.openxmlformats.org/officeDocument/2006/relationships/notesSlide" Target="/ppt/notesSlides/notesSlide5.xml" Id="R5fecc7410c9f43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48aa28085b4b0c" /><Relationship Type="http://schemas.openxmlformats.org/officeDocument/2006/relationships/notesSlide" Target="/ppt/notesSlides/notesSlide6.xml" Id="R84aa409fc79440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d7bc82d0e248a0" /><Relationship Type="http://schemas.openxmlformats.org/officeDocument/2006/relationships/notesSlide" Target="/ppt/notesSlides/notesSlide7.xml" Id="R55700d042c834d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62b9a1f08642d9" /><Relationship Type="http://schemas.openxmlformats.org/officeDocument/2006/relationships/notesSlide" Target="/ppt/notesSlides/notesSlide8.xml" Id="Rce035fb9378b41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7dbebb0b924ce7" /><Relationship Type="http://schemas.openxmlformats.org/officeDocument/2006/relationships/notesSlide" Target="/ppt/notesSlides/notesSlide9.xml" Id="Rb8669c2d349946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12c89b0d5b4911" /><Relationship Type="http://schemas.openxmlformats.org/officeDocument/2006/relationships/notesSlide" Target="/ppt/notesSlides/notesSlide10.xml" Id="R88de05db33f04534" /></Relationships>
</file>

<file path=ppt/slides/slide1.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38acdf8a1394aa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D3A39A-862D-4218-8DA7-0EF654C02486}"/>
              </a:ext>
            </a:extLst>
          </p:cNvPr>
          <p:cNvSpPr>
            <a:spLocks xmlns:a="http://schemas.openxmlformats.org/drawingml/2006/main" noGrp="1"/>
          </p:cNvSpPr>
          <p:nvPr/>
        </p:nvSpPr>
        <p:spPr>
          <a:xfrm xmlns:a="http://schemas.openxmlformats.org/drawingml/2006/main">
            <a:off x="0" y="5657850"/>
            <a:ext cx="12192000" cy="1200150"/>
          </a:xfrm>
          <a:prstGeom xmlns:a="http://schemas.openxmlformats.org/drawingml/2006/main" prst="rect">
            <a:avLst/>
          </a:prstGeom>
          <a:solidFill xmlns:a="http://schemas.openxmlformats.org/drawingml/2006/main">
            <a:srgbClr val="061321"/>
          </a:solidFill>
          <a:ln xmlns:a="http://schemas.openxmlformats.org/drawingml/2006/main" w="9525">
            <a:solidFill>
              <a:srgbClr val="061321"/>
            </a:solidFill>
            <a:prstDash val="solid"/>
          </a:ln>
        </p:spPr>
      </p:sp>
      <p:sp>
        <p:nvSpPr>
          <p:cNvPr id="3" name="">
            <a:extLst xmlns:a="http://schemas.openxmlformats.org/drawingml/2006/main">
              <a:ext uri="{FF2B5EF4-FFF2-40B4-BE49-F238E27FC236}">
                <a16:creationId xmlns:a16="http://schemas.microsoft.com/office/drawing/2014/main" id="{C34C50E6-85C1-4272-B33A-A22A8971B246}"/>
              </a:ext>
            </a:extLst>
          </p:cNvPr>
          <p:cNvSpPr>
            <a:spLocks xmlns:a="http://schemas.openxmlformats.org/drawingml/2006/main" noGrp="1"/>
          </p:cNvSpPr>
          <p:nvPr/>
        </p:nvSpPr>
        <p:spPr>
          <a:xfrm xmlns:a="http://schemas.openxmlformats.org/drawingml/2006/main">
            <a:off x="685800" y="59055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2ED9FF"/>
                </a:solidFill>
              </a:defRPr>
            </a:pPr>
            <a:r>
              <a:rPr sz="2100" b="1">
                <a:solidFill>
                  <a:srgbClr val="2ED9FF"/>
                </a:solidFill>
              </a:rPr>
              <a:t>PROOF BEFORE PROFIT</a:t>
            </a:r>
          </a:p>
        </p:txBody>
      </p:sp>
      <p:sp>
        <p:nvSpPr>
          <p:cNvPr id="4" name="">
            <a:extLst xmlns:a="http://schemas.openxmlformats.org/drawingml/2006/main">
              <a:ext uri="{FF2B5EF4-FFF2-40B4-BE49-F238E27FC236}">
                <a16:creationId xmlns:a16="http://schemas.microsoft.com/office/drawing/2014/main" id="{57A19E3E-F2CC-4075-BABE-33F00E958DF6}"/>
              </a:ext>
            </a:extLst>
          </p:cNvPr>
          <p:cNvSpPr>
            <a:spLocks xmlns:a="http://schemas.openxmlformats.org/drawingml/2006/main" noGrp="1"/>
          </p:cNvSpPr>
          <p:nvPr/>
        </p:nvSpPr>
        <p:spPr>
          <a:xfrm xmlns:a="http://schemas.openxmlformats.org/drawingml/2006/main">
            <a:off x="685800" y="63436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F5F7FA"/>
                </a:solidFill>
              </a:defRPr>
            </a:pPr>
            <a:r>
              <a:rPr sz="1350" b="0">
                <a:solidFill>
                  <a:srgbClr val="F5F7FA"/>
                </a:solidFill>
              </a:rPr>
              <a:t>An abstention-first, defined-risk options agent</a:t>
            </a:r>
          </a:p>
        </p:txBody>
      </p:sp>
    </p:spTree>
    <p:extLst>
      <p:ext uri="{BB962C8B-B14F-4D97-AF65-F5344CB8AC3E}">
        <p14:creationId xmlns:p14="http://schemas.microsoft.com/office/powerpoint/2010/main" val="1631827945"/>
      </p:ext>
    </p:extLst>
  </p:cSld>
</p:sld>
</file>

<file path=ppt/slides/slide2.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0318908-647F-4024-ABED-977F419762D2}"/>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THE TRUST GAP</a:t>
            </a:r>
          </a:p>
        </p:txBody>
      </p:sp>
      <p:sp>
        <p:nvSpPr>
          <p:cNvPr id="2" name="">
            <a:extLst xmlns:a="http://schemas.openxmlformats.org/drawingml/2006/main">
              <a:ext uri="{FF2B5EF4-FFF2-40B4-BE49-F238E27FC236}">
                <a16:creationId xmlns:a16="http://schemas.microsoft.com/office/drawing/2014/main" id="{C5740647-A04D-4BC7-BE6C-B4837EC17771}"/>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Prediction is easy to demo. Refusal is hard to prove.</a:t>
            </a:r>
          </a:p>
        </p:txBody>
      </p:sp>
      <p:sp>
        <p:nvSpPr>
          <p:cNvPr id="3" name="">
            <a:extLst xmlns:a="http://schemas.openxmlformats.org/drawingml/2006/main">
              <a:ext uri="{FF2B5EF4-FFF2-40B4-BE49-F238E27FC236}">
                <a16:creationId xmlns:a16="http://schemas.microsoft.com/office/drawing/2014/main" id="{A71474F8-83BE-4BBA-A597-AEAEC6E86B13}"/>
              </a:ext>
            </a:extLst>
          </p:cNvPr>
          <p:cNvSpPr>
            <a:spLocks xmlns:a="http://schemas.openxmlformats.org/drawingml/2006/main" noGrp="1"/>
          </p:cNvSpPr>
          <p:nvPr/>
        </p:nvSpPr>
        <p:spPr>
          <a:xfrm xmlns:a="http://schemas.openxmlformats.org/drawingml/2006/main">
            <a:off x="685800" y="1866900"/>
            <a:ext cx="4857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F5F7FA"/>
                </a:solidFill>
              </a:defRPr>
            </a:pPr>
            <a:r>
              <a:rPr sz="2100" b="0">
                <a:solidFill>
                  <a:srgbClr val="F5F7FA"/>
                </a:solidFill>
              </a:rPr>
              <a:t>Options turn one stale quote or understated debit into a different risk.</a:t>
            </a:r>
          </a:p>
        </p:txBody>
      </p:sp>
      <p:sp>
        <p:nvSpPr>
          <p:cNvPr id="4" name="">
            <a:extLst xmlns:a="http://schemas.openxmlformats.org/drawingml/2006/main">
              <a:ext uri="{FF2B5EF4-FFF2-40B4-BE49-F238E27FC236}">
                <a16:creationId xmlns:a16="http://schemas.microsoft.com/office/drawing/2014/main" id="{39EF40A2-1599-4F4E-A5A5-3E9646011FD9}"/>
              </a:ext>
            </a:extLst>
          </p:cNvPr>
          <p:cNvSpPr>
            <a:spLocks xmlns:a="http://schemas.openxmlformats.org/drawingml/2006/main" noGrp="1"/>
          </p:cNvSpPr>
          <p:nvPr/>
        </p:nvSpPr>
        <p:spPr>
          <a:xfrm xmlns:a="http://schemas.openxmlformats.org/drawingml/2006/main">
            <a:off x="685800" y="29527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E5B95C"/>
                </a:solidFill>
              </a:defRPr>
            </a:pPr>
            <a:r>
              <a:rPr sz="1500" b="1">
                <a:solidFill>
                  <a:srgbClr val="E5B95C"/>
                </a:solidFill>
              </a:rPr>
              <a:t>But a real user still needs to know:</a:t>
            </a:r>
          </a:p>
        </p:txBody>
      </p:sp>
      <p:sp>
        <p:nvSpPr>
          <p:cNvPr id="5" name="">
            <a:extLst xmlns:a="http://schemas.openxmlformats.org/drawingml/2006/main">
              <a:ext uri="{FF2B5EF4-FFF2-40B4-BE49-F238E27FC236}">
                <a16:creationId xmlns:a16="http://schemas.microsoft.com/office/drawing/2014/main" id="{33B5C159-4AB0-46F9-9E59-F971D1FF7317}"/>
              </a:ext>
            </a:extLst>
          </p:cNvPr>
          <p:cNvSpPr>
            <a:spLocks xmlns:a="http://schemas.openxmlformats.org/drawingml/2006/main" noGrp="1"/>
          </p:cNvSpPr>
          <p:nvPr/>
        </p:nvSpPr>
        <p:spPr>
          <a:xfrm xmlns:a="http://schemas.openxmlformats.org/drawingml/2006/main">
            <a:off x="6286500" y="1866900"/>
            <a:ext cx="419100" cy="419100"/>
          </a:xfrm>
          <a:prstGeom xmlns:a="http://schemas.openxmlformats.org/drawingml/2006/main" prst="ellipse">
            <a:avLst/>
          </a:prstGeom>
          <a:solidFill xmlns:a="http://schemas.openxmlformats.org/drawingml/2006/main">
            <a:srgbClr val="2ED9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6FB730-1395-40B2-AD5C-B67969541C57}"/>
              </a:ext>
            </a:extLst>
          </p:cNvPr>
          <p:cNvSpPr>
            <a:spLocks xmlns:a="http://schemas.openxmlformats.org/drawingml/2006/main" noGrp="1"/>
          </p:cNvSpPr>
          <p:nvPr/>
        </p:nvSpPr>
        <p:spPr>
          <a:xfrm xmlns:a="http://schemas.openxmlformats.org/drawingml/2006/main">
            <a:off x="6286500" y="19526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61321"/>
                </a:solidFill>
              </a:defRPr>
            </a:pPr>
            <a:r>
              <a:rPr sz="1350" b="1">
                <a:solidFill>
                  <a:srgbClr val="061321"/>
                </a:solidFill>
              </a:rPr>
              <a:t>1</a:t>
            </a:r>
          </a:p>
        </p:txBody>
      </p:sp>
      <p:sp>
        <p:nvSpPr>
          <p:cNvPr id="7" name="">
            <a:extLst xmlns:a="http://schemas.openxmlformats.org/drawingml/2006/main">
              <a:ext uri="{FF2B5EF4-FFF2-40B4-BE49-F238E27FC236}">
                <a16:creationId xmlns:a16="http://schemas.microsoft.com/office/drawing/2014/main" id="{B4BF3929-CF29-492F-B589-F341B347F6C0}"/>
              </a:ext>
            </a:extLst>
          </p:cNvPr>
          <p:cNvSpPr>
            <a:spLocks xmlns:a="http://schemas.openxmlformats.org/drawingml/2006/main" noGrp="1"/>
          </p:cNvSpPr>
          <p:nvPr/>
        </p:nvSpPr>
        <p:spPr>
          <a:xfrm xmlns:a="http://schemas.openxmlformats.org/drawingml/2006/main">
            <a:off x="6953250" y="18288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Are both quotes, Greeks, and liquidity valid?</a:t>
            </a:r>
          </a:p>
        </p:txBody>
      </p:sp>
      <p:sp>
        <p:nvSpPr>
          <p:cNvPr id="8" name="">
            <a:extLst xmlns:a="http://schemas.openxmlformats.org/drawingml/2006/main">
              <a:ext uri="{FF2B5EF4-FFF2-40B4-BE49-F238E27FC236}">
                <a16:creationId xmlns:a16="http://schemas.microsoft.com/office/drawing/2014/main" id="{EFAF3844-A26E-4431-9CC0-4F637378B08D}"/>
              </a:ext>
            </a:extLst>
          </p:cNvPr>
          <p:cNvSpPr>
            <a:spLocks xmlns:a="http://schemas.openxmlformats.org/drawingml/2006/main" noGrp="1"/>
          </p:cNvSpPr>
          <p:nvPr/>
        </p:nvSpPr>
        <p:spPr>
          <a:xfrm xmlns:a="http://schemas.openxmlformats.org/drawingml/2006/main">
            <a:off x="6286500" y="2971800"/>
            <a:ext cx="419100" cy="419100"/>
          </a:xfrm>
          <a:prstGeom xmlns:a="http://schemas.openxmlformats.org/drawingml/2006/main" prst="ellipse">
            <a:avLst/>
          </a:prstGeom>
          <a:solidFill xmlns:a="http://schemas.openxmlformats.org/drawingml/2006/main">
            <a:srgbClr val="2ED9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34FB58-4078-483D-A382-B4DE9F265154}"/>
              </a:ext>
            </a:extLst>
          </p:cNvPr>
          <p:cNvSpPr>
            <a:spLocks xmlns:a="http://schemas.openxmlformats.org/drawingml/2006/main" noGrp="1"/>
          </p:cNvSpPr>
          <p:nvPr/>
        </p:nvSpPr>
        <p:spPr>
          <a:xfrm xmlns:a="http://schemas.openxmlformats.org/drawingml/2006/main">
            <a:off x="6286500" y="3057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61321"/>
                </a:solidFill>
              </a:defRPr>
            </a:pPr>
            <a:r>
              <a:rPr sz="1350" b="1">
                <a:solidFill>
                  <a:srgbClr val="061321"/>
                </a:solidFill>
              </a:rPr>
              <a:t>2</a:t>
            </a:r>
          </a:p>
        </p:txBody>
      </p:sp>
      <p:sp>
        <p:nvSpPr>
          <p:cNvPr id="10" name="">
            <a:extLst xmlns:a="http://schemas.openxmlformats.org/drawingml/2006/main">
              <a:ext uri="{FF2B5EF4-FFF2-40B4-BE49-F238E27FC236}">
                <a16:creationId xmlns:a16="http://schemas.microsoft.com/office/drawing/2014/main" id="{336C600A-0019-4798-AD8A-992B25957F4E}"/>
              </a:ext>
            </a:extLst>
          </p:cNvPr>
          <p:cNvSpPr>
            <a:spLocks xmlns:a="http://schemas.openxmlformats.org/drawingml/2006/main" noGrp="1"/>
          </p:cNvSpPr>
          <p:nvPr/>
        </p:nvSpPr>
        <p:spPr>
          <a:xfrm xmlns:a="http://schemas.openxmlformats.org/drawingml/2006/main">
            <a:off x="6953250" y="29337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Was maximum loss recomputed from the legs?</a:t>
            </a:r>
          </a:p>
        </p:txBody>
      </p:sp>
      <p:sp>
        <p:nvSpPr>
          <p:cNvPr id="11" name="">
            <a:extLst xmlns:a="http://schemas.openxmlformats.org/drawingml/2006/main">
              <a:ext uri="{FF2B5EF4-FFF2-40B4-BE49-F238E27FC236}">
                <a16:creationId xmlns:a16="http://schemas.microsoft.com/office/drawing/2014/main" id="{F4BEE5CD-4CD6-44B0-BEFF-7941490A0029}"/>
              </a:ext>
            </a:extLst>
          </p:cNvPr>
          <p:cNvSpPr>
            <a:spLocks xmlns:a="http://schemas.openxmlformats.org/drawingml/2006/main" noGrp="1"/>
          </p:cNvSpPr>
          <p:nvPr/>
        </p:nvSpPr>
        <p:spPr>
          <a:xfrm xmlns:a="http://schemas.openxmlformats.org/drawingml/2006/main">
            <a:off x="6286500" y="4076700"/>
            <a:ext cx="419100" cy="419100"/>
          </a:xfrm>
          <a:prstGeom xmlns:a="http://schemas.openxmlformats.org/drawingml/2006/main" prst="ellipse">
            <a:avLst/>
          </a:prstGeom>
          <a:solidFill xmlns:a="http://schemas.openxmlformats.org/drawingml/2006/main">
            <a:srgbClr val="E5B9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EDFF91-C71C-4AB8-9648-12FE30FC15BD}"/>
              </a:ext>
            </a:extLst>
          </p:cNvPr>
          <p:cNvSpPr>
            <a:spLocks xmlns:a="http://schemas.openxmlformats.org/drawingml/2006/main" noGrp="1"/>
          </p:cNvSpPr>
          <p:nvPr/>
        </p:nvSpPr>
        <p:spPr>
          <a:xfrm xmlns:a="http://schemas.openxmlformats.org/drawingml/2006/main">
            <a:off x="6286500" y="4162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61321"/>
                </a:solidFill>
              </a:defRPr>
            </a:pPr>
            <a:r>
              <a:rPr sz="1350" b="1">
                <a:solidFill>
                  <a:srgbClr val="061321"/>
                </a:solidFill>
              </a:rPr>
              <a:t>3</a:t>
            </a:r>
          </a:p>
        </p:txBody>
      </p:sp>
      <p:sp>
        <p:nvSpPr>
          <p:cNvPr id="13" name="">
            <a:extLst xmlns:a="http://schemas.openxmlformats.org/drawingml/2006/main">
              <a:ext uri="{FF2B5EF4-FFF2-40B4-BE49-F238E27FC236}">
                <a16:creationId xmlns:a16="http://schemas.microsoft.com/office/drawing/2014/main" id="{EB492861-2BF4-457D-B706-73BCFFE162DC}"/>
              </a:ext>
            </a:extLst>
          </p:cNvPr>
          <p:cNvSpPr>
            <a:spLocks xmlns:a="http://schemas.openxmlformats.org/drawingml/2006/main" noGrp="1"/>
          </p:cNvSpPr>
          <p:nvPr/>
        </p:nvSpPr>
        <p:spPr>
          <a:xfrm xmlns:a="http://schemas.openxmlformats.org/drawingml/2006/main">
            <a:off x="6953250" y="4038600"/>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Can the model veto without authorizing?</a:t>
            </a:r>
          </a:p>
        </p:txBody>
      </p:sp>
      <p:sp>
        <p:nvSpPr>
          <p:cNvPr id="14" name="">
            <a:extLst xmlns:a="http://schemas.openxmlformats.org/drawingml/2006/main">
              <a:ext uri="{FF2B5EF4-FFF2-40B4-BE49-F238E27FC236}">
                <a16:creationId xmlns:a16="http://schemas.microsoft.com/office/drawing/2014/main" id="{67F0D9B1-BC8D-4770-9F5D-D90051079380}"/>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5" name="">
            <a:extLst xmlns:a="http://schemas.openxmlformats.org/drawingml/2006/main">
              <a:ext uri="{FF2B5EF4-FFF2-40B4-BE49-F238E27FC236}">
                <a16:creationId xmlns:a16="http://schemas.microsoft.com/office/drawing/2014/main" id="{3D2FF654-A721-4630-80A3-45CA227D2E77}"/>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6" name="">
            <a:extLst xmlns:a="http://schemas.openxmlformats.org/drawingml/2006/main">
              <a:ext uri="{FF2B5EF4-FFF2-40B4-BE49-F238E27FC236}">
                <a16:creationId xmlns:a16="http://schemas.microsoft.com/office/drawing/2014/main" id="{D56D3F17-D25D-45B6-B936-EEC79ADBABEC}"/>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02</a:t>
            </a:r>
          </a:p>
        </p:txBody>
      </p:sp>
    </p:spTree>
    <p:extLst>
      <p:ext uri="{BB962C8B-B14F-4D97-AF65-F5344CB8AC3E}">
        <p14:creationId xmlns:p14="http://schemas.microsoft.com/office/powerpoint/2010/main" val="2108298955"/>
      </p:ext>
    </p:extLst>
  </p:cSld>
</p:sld>
</file>

<file path=ppt/slides/slide3.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DF9543-C7A0-4F2E-B272-9E0F8ECA1488}"/>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AlphaLedger turns every decision into a falsifiable receipt</a:t>
            </a:r>
          </a:p>
        </p:txBody>
      </p:sp>
      <p:sp>
        <p:nvSpPr>
          <p:cNvPr id="2" name="">
            <a:extLst xmlns:a="http://schemas.openxmlformats.org/drawingml/2006/main">
              <a:ext uri="{FF2B5EF4-FFF2-40B4-BE49-F238E27FC236}">
                <a16:creationId xmlns:a16="http://schemas.microsoft.com/office/drawing/2014/main" id="{E27BD111-B476-4A30-9549-0F490829E322}"/>
              </a:ext>
            </a:extLst>
          </p:cNvPr>
          <p:cNvSpPr>
            <a:spLocks xmlns:a="http://schemas.openxmlformats.org/drawingml/2006/main" noGrp="1"/>
          </p:cNvSpPr>
          <p:nvPr/>
        </p:nvSpPr>
        <p:spPr>
          <a:xfrm xmlns:a="http://schemas.openxmlformats.org/drawingml/2006/main">
            <a:off x="781050" y="45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THE PRODUCT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f2d3cd18a7d4743"/>
          <a:srcRect xmlns:a="http://schemas.openxmlformats.org/drawingml/2006/main" l="0" t="1307" r="0" b="1307"/>
          <a:stretch xmlns:a="http://schemas.openxmlformats.org/drawingml/2006/main">
            <a:fillRect l="0" t="0" r="0" b="0"/>
          </a:stretch>
        </p:blipFill>
        <p:spPr>
          <a:xfrm xmlns:a="http://schemas.openxmlformats.org/drawingml/2006/main">
            <a:off x="685800" y="1695450"/>
            <a:ext cx="7239000" cy="4067175"/>
          </a:xfrm>
          <a:prstGeom xmlns:a="http://schemas.openxmlformats.org/drawingml/2006/main" prst="roundRect">
            <a:avLst>
              <a:gd name="adj" fmla="val 4215"/>
            </a:avLst>
          </a:prstGeom>
        </p:spPr>
      </p:pic>
      <p:sp>
        <p:nvSpPr>
          <p:cNvPr id="4" name="">
            <a:extLst xmlns:a="http://schemas.openxmlformats.org/drawingml/2006/main">
              <a:ext uri="{FF2B5EF4-FFF2-40B4-BE49-F238E27FC236}">
                <a16:creationId xmlns:a16="http://schemas.microsoft.com/office/drawing/2014/main" id="{2B6181B8-A09E-4348-95F6-987075765970}"/>
              </a:ext>
            </a:extLst>
          </p:cNvPr>
          <p:cNvSpPr>
            <a:spLocks xmlns:a="http://schemas.openxmlformats.org/drawingml/2006/main" noGrp="1"/>
          </p:cNvSpPr>
          <p:nvPr/>
        </p:nvSpPr>
        <p:spPr>
          <a:xfrm xmlns:a="http://schemas.openxmlformats.org/drawingml/2006/main">
            <a:off x="8458200" y="18097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ED9FF"/>
                </a:solidFill>
              </a:defRPr>
            </a:pPr>
            <a:r>
              <a:rPr sz="1950" b="1">
                <a:solidFill>
                  <a:srgbClr val="2ED9FF"/>
                </a:solidFill>
              </a:rPr>
              <a:t>1</a:t>
            </a:r>
          </a:p>
        </p:txBody>
      </p:sp>
      <p:sp>
        <p:nvSpPr>
          <p:cNvPr id="5" name="">
            <a:extLst xmlns:a="http://schemas.openxmlformats.org/drawingml/2006/main">
              <a:ext uri="{FF2B5EF4-FFF2-40B4-BE49-F238E27FC236}">
                <a16:creationId xmlns:a16="http://schemas.microsoft.com/office/drawing/2014/main" id="{5EE71877-B063-4F51-A019-5C6D463B4908}"/>
              </a:ext>
            </a:extLst>
          </p:cNvPr>
          <p:cNvSpPr>
            <a:spLocks xmlns:a="http://schemas.openxmlformats.org/drawingml/2006/main" noGrp="1"/>
          </p:cNvSpPr>
          <p:nvPr/>
        </p:nvSpPr>
        <p:spPr>
          <a:xfrm xmlns:a="http://schemas.openxmlformats.org/drawingml/2006/main">
            <a:off x="8953500" y="1809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F5F7FA"/>
                </a:solidFill>
              </a:defRPr>
            </a:pPr>
            <a:r>
              <a:rPr sz="1725" b="1">
                <a:solidFill>
                  <a:srgbClr val="F5F7FA"/>
                </a:solidFill>
              </a:rPr>
              <a:t>Name both option legs</a:t>
            </a:r>
          </a:p>
        </p:txBody>
      </p:sp>
      <p:sp>
        <p:nvSpPr>
          <p:cNvPr id="6" name="">
            <a:extLst xmlns:a="http://schemas.openxmlformats.org/drawingml/2006/main">
              <a:ext uri="{FF2B5EF4-FFF2-40B4-BE49-F238E27FC236}">
                <a16:creationId xmlns:a16="http://schemas.microsoft.com/office/drawing/2014/main" id="{70855762-FA2E-4C3D-B0AE-549AC87E9076}"/>
              </a:ext>
            </a:extLst>
          </p:cNvPr>
          <p:cNvSpPr>
            <a:spLocks xmlns:a="http://schemas.openxmlformats.org/drawingml/2006/main" noGrp="1"/>
          </p:cNvSpPr>
          <p:nvPr/>
        </p:nvSpPr>
        <p:spPr>
          <a:xfrm xmlns:a="http://schemas.openxmlformats.org/drawingml/2006/main">
            <a:off x="8458200" y="28384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ED9FF"/>
                </a:solidFill>
              </a:defRPr>
            </a:pPr>
            <a:r>
              <a:rPr sz="1950" b="1">
                <a:solidFill>
                  <a:srgbClr val="2ED9FF"/>
                </a:solidFill>
              </a:rPr>
              <a:t>2</a:t>
            </a:r>
          </a:p>
        </p:txBody>
      </p:sp>
      <p:sp>
        <p:nvSpPr>
          <p:cNvPr id="7" name="">
            <a:extLst xmlns:a="http://schemas.openxmlformats.org/drawingml/2006/main">
              <a:ext uri="{FF2B5EF4-FFF2-40B4-BE49-F238E27FC236}">
                <a16:creationId xmlns:a16="http://schemas.microsoft.com/office/drawing/2014/main" id="{63B38187-22EF-4313-8FF4-B71484C2BACC}"/>
              </a:ext>
            </a:extLst>
          </p:cNvPr>
          <p:cNvSpPr>
            <a:spLocks xmlns:a="http://schemas.openxmlformats.org/drawingml/2006/main" noGrp="1"/>
          </p:cNvSpPr>
          <p:nvPr/>
        </p:nvSpPr>
        <p:spPr>
          <a:xfrm xmlns:a="http://schemas.openxmlformats.org/drawingml/2006/main">
            <a:off x="8953500" y="28384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F5F7FA"/>
                </a:solidFill>
              </a:defRPr>
            </a:pPr>
            <a:r>
              <a:rPr sz="1725" b="1">
                <a:solidFill>
                  <a:srgbClr val="F5F7FA"/>
                </a:solidFill>
              </a:rPr>
              <a:t>Recompute capped loss</a:t>
            </a:r>
          </a:p>
        </p:txBody>
      </p:sp>
      <p:sp>
        <p:nvSpPr>
          <p:cNvPr id="8" name="">
            <a:extLst xmlns:a="http://schemas.openxmlformats.org/drawingml/2006/main">
              <a:ext uri="{FF2B5EF4-FFF2-40B4-BE49-F238E27FC236}">
                <a16:creationId xmlns:a16="http://schemas.microsoft.com/office/drawing/2014/main" id="{71FA19B4-3C53-4DF1-908E-7007A2A8D222}"/>
              </a:ext>
            </a:extLst>
          </p:cNvPr>
          <p:cNvSpPr>
            <a:spLocks xmlns:a="http://schemas.openxmlformats.org/drawingml/2006/main" noGrp="1"/>
          </p:cNvSpPr>
          <p:nvPr/>
        </p:nvSpPr>
        <p:spPr>
          <a:xfrm xmlns:a="http://schemas.openxmlformats.org/drawingml/2006/main">
            <a:off x="8458200" y="386715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5B95C"/>
                </a:solidFill>
              </a:defRPr>
            </a:pPr>
            <a:r>
              <a:rPr sz="1950" b="1">
                <a:solidFill>
                  <a:srgbClr val="E5B95C"/>
                </a:solidFill>
              </a:rPr>
              <a:t>3</a:t>
            </a:r>
          </a:p>
        </p:txBody>
      </p:sp>
      <p:sp>
        <p:nvSpPr>
          <p:cNvPr id="9" name="">
            <a:extLst xmlns:a="http://schemas.openxmlformats.org/drawingml/2006/main">
              <a:ext uri="{FF2B5EF4-FFF2-40B4-BE49-F238E27FC236}">
                <a16:creationId xmlns:a16="http://schemas.microsoft.com/office/drawing/2014/main" id="{C6AC3C86-C1FF-4D6E-AD23-41A777C9A15F}"/>
              </a:ext>
            </a:extLst>
          </p:cNvPr>
          <p:cNvSpPr>
            <a:spLocks xmlns:a="http://schemas.openxmlformats.org/drawingml/2006/main" noGrp="1"/>
          </p:cNvSpPr>
          <p:nvPr/>
        </p:nvSpPr>
        <p:spPr>
          <a:xfrm xmlns:a="http://schemas.openxmlformats.org/drawingml/2006/main">
            <a:off x="8953500" y="3867150"/>
            <a:ext cx="257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F5F7FA"/>
                </a:solidFill>
              </a:defRPr>
            </a:pPr>
            <a:r>
              <a:rPr sz="1725" b="1">
                <a:solidFill>
                  <a:srgbClr val="F5F7FA"/>
                </a:solidFill>
              </a:rPr>
              <a:t>Gate before a plan</a:t>
            </a:r>
          </a:p>
        </p:txBody>
      </p:sp>
      <p:sp>
        <p:nvSpPr>
          <p:cNvPr id="10" name="">
            <a:extLst xmlns:a="http://schemas.openxmlformats.org/drawingml/2006/main">
              <a:ext uri="{FF2B5EF4-FFF2-40B4-BE49-F238E27FC236}">
                <a16:creationId xmlns:a16="http://schemas.microsoft.com/office/drawing/2014/main" id="{ABB8D3C4-159C-4084-8898-B68EECD45683}"/>
              </a:ext>
            </a:extLst>
          </p:cNvPr>
          <p:cNvSpPr>
            <a:spLocks xmlns:a="http://schemas.openxmlformats.org/drawingml/2006/main" noGrp="1"/>
          </p:cNvSpPr>
          <p:nvPr/>
        </p:nvSpPr>
        <p:spPr>
          <a:xfrm xmlns:a="http://schemas.openxmlformats.org/drawingml/2006/main">
            <a:off x="8458200" y="49530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The public demo is simulation-only and requests no credentials.</a:t>
            </a:r>
          </a:p>
        </p:txBody>
      </p:sp>
      <p:sp>
        <p:nvSpPr>
          <p:cNvPr id="11" name="">
            <a:extLst xmlns:a="http://schemas.openxmlformats.org/drawingml/2006/main">
              <a:ext uri="{FF2B5EF4-FFF2-40B4-BE49-F238E27FC236}">
                <a16:creationId xmlns:a16="http://schemas.microsoft.com/office/drawing/2014/main" id="{A68CAECD-9254-4243-B288-742BB199860D}"/>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2" name="">
            <a:extLst xmlns:a="http://schemas.openxmlformats.org/drawingml/2006/main">
              <a:ext uri="{FF2B5EF4-FFF2-40B4-BE49-F238E27FC236}">
                <a16:creationId xmlns:a16="http://schemas.microsoft.com/office/drawing/2014/main" id="{366A7FFD-785B-451F-80A5-4B700A6C16E9}"/>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3" name="">
            <a:extLst xmlns:a="http://schemas.openxmlformats.org/drawingml/2006/main">
              <a:ext uri="{FF2B5EF4-FFF2-40B4-BE49-F238E27FC236}">
                <a16:creationId xmlns:a16="http://schemas.microsoft.com/office/drawing/2014/main" id="{AEB47E53-7B7C-4B7B-80BB-A6F7984A308C}"/>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03</a:t>
            </a:r>
          </a:p>
        </p:txBody>
      </p:sp>
    </p:spTree>
    <p:extLst>
      <p:ext uri="{BB962C8B-B14F-4D97-AF65-F5344CB8AC3E}">
        <p14:creationId xmlns:p14="http://schemas.microsoft.com/office/powerpoint/2010/main" val="1125322175"/>
      </p:ext>
    </p:extLst>
  </p:cSld>
</p:sld>
</file>

<file path=ppt/slides/slide4.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C2A27B7-3553-4C60-B489-E1769E3D22F6}"/>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HOW IT WORKS</a:t>
            </a:r>
          </a:p>
        </p:txBody>
      </p:sp>
      <p:sp>
        <p:nvSpPr>
          <p:cNvPr id="2" name="">
            <a:extLst xmlns:a="http://schemas.openxmlformats.org/drawingml/2006/main">
              <a:ext uri="{FF2B5EF4-FFF2-40B4-BE49-F238E27FC236}">
                <a16:creationId xmlns:a16="http://schemas.microsoft.com/office/drawing/2014/main" id="{C2997EE4-16EF-4369-89CB-02FF13C19F0C}"/>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One governed loop keeps AI advisory</a:t>
            </a:r>
          </a:p>
        </p:txBody>
      </p:sp>
      <p:sp>
        <p:nvSpPr>
          <p:cNvPr id="3" name="arrow-0">
            <a:extLst xmlns:a="http://schemas.openxmlformats.org/drawingml/2006/main">
              <a:ext uri="{FF2B5EF4-FFF2-40B4-BE49-F238E27FC236}">
                <a16:creationId xmlns:a16="http://schemas.microsoft.com/office/drawing/2014/main" id="{13C02930-9C08-4857-8B74-914578CED6F8}"/>
              </a:ext>
            </a:extLst>
          </p:cNvPr>
          <p:cNvSpPr>
            <a:spLocks xmlns:a="http://schemas.openxmlformats.org/drawingml/2006/main" noGrp="1"/>
          </p:cNvSpPr>
          <p:nvPr/>
        </p:nvSpPr>
        <p:spPr>
          <a:xfrm xmlns:a="http://schemas.openxmlformats.org/drawingml/2006/main">
            <a:off x="2171700" y="2781300"/>
            <a:ext cx="381000" cy="228600"/>
          </a:xfrm>
          <a:prstGeom xmlns:a="http://schemas.openxmlformats.org/drawingml/2006/main" prst="rightArrow">
            <a:avLst/>
          </a:prstGeom>
          <a:solidFill xmlns:a="http://schemas.openxmlformats.org/drawingml/2006/main">
            <a:srgbClr val="274258"/>
          </a:solidFill>
          <a:ln xmlns:a="http://schemas.openxmlformats.org/drawingml/2006/main" w="9525">
            <a:solidFill>
              <a:srgbClr val="274258"/>
            </a:solidFill>
            <a:prstDash val="solid"/>
          </a:ln>
        </p:spPr>
      </p:sp>
      <p:sp>
        <p:nvSpPr>
          <p:cNvPr id="4" name="arrow-1">
            <a:extLst xmlns:a="http://schemas.openxmlformats.org/drawingml/2006/main">
              <a:ext uri="{FF2B5EF4-FFF2-40B4-BE49-F238E27FC236}">
                <a16:creationId xmlns:a16="http://schemas.microsoft.com/office/drawing/2014/main" id="{BA74D7FD-E8B0-4254-B315-EA721817E076}"/>
              </a:ext>
            </a:extLst>
          </p:cNvPr>
          <p:cNvSpPr>
            <a:spLocks xmlns:a="http://schemas.openxmlformats.org/drawingml/2006/main" noGrp="1"/>
          </p:cNvSpPr>
          <p:nvPr/>
        </p:nvSpPr>
        <p:spPr>
          <a:xfrm xmlns:a="http://schemas.openxmlformats.org/drawingml/2006/main">
            <a:off x="4000500" y="2781300"/>
            <a:ext cx="381000" cy="228600"/>
          </a:xfrm>
          <a:prstGeom xmlns:a="http://schemas.openxmlformats.org/drawingml/2006/main" prst="rightArrow">
            <a:avLst/>
          </a:prstGeom>
          <a:solidFill xmlns:a="http://schemas.openxmlformats.org/drawingml/2006/main">
            <a:srgbClr val="274258"/>
          </a:solidFill>
          <a:ln xmlns:a="http://schemas.openxmlformats.org/drawingml/2006/main" w="9525">
            <a:solidFill>
              <a:srgbClr val="274258"/>
            </a:solidFill>
            <a:prstDash val="solid"/>
          </a:ln>
        </p:spPr>
      </p:sp>
      <p:sp>
        <p:nvSpPr>
          <p:cNvPr id="5" name="arrow-2">
            <a:extLst xmlns:a="http://schemas.openxmlformats.org/drawingml/2006/main">
              <a:ext uri="{FF2B5EF4-FFF2-40B4-BE49-F238E27FC236}">
                <a16:creationId xmlns:a16="http://schemas.microsoft.com/office/drawing/2014/main" id="{C2B209DC-EA7E-433F-B4FB-A4093EE6BC43}"/>
              </a:ext>
            </a:extLst>
          </p:cNvPr>
          <p:cNvSpPr>
            <a:spLocks xmlns:a="http://schemas.openxmlformats.org/drawingml/2006/main" noGrp="1"/>
          </p:cNvSpPr>
          <p:nvPr/>
        </p:nvSpPr>
        <p:spPr>
          <a:xfrm xmlns:a="http://schemas.openxmlformats.org/drawingml/2006/main">
            <a:off x="5829300" y="2781300"/>
            <a:ext cx="381000" cy="228600"/>
          </a:xfrm>
          <a:prstGeom xmlns:a="http://schemas.openxmlformats.org/drawingml/2006/main" prst="rightArrow">
            <a:avLst/>
          </a:prstGeom>
          <a:solidFill xmlns:a="http://schemas.openxmlformats.org/drawingml/2006/main">
            <a:srgbClr val="274258"/>
          </a:solidFill>
          <a:ln xmlns:a="http://schemas.openxmlformats.org/drawingml/2006/main" w="9525">
            <a:solidFill>
              <a:srgbClr val="274258"/>
            </a:solidFill>
            <a:prstDash val="solid"/>
          </a:ln>
        </p:spPr>
      </p:sp>
      <p:sp>
        <p:nvSpPr>
          <p:cNvPr id="6" name="arrow-3">
            <a:extLst xmlns:a="http://schemas.openxmlformats.org/drawingml/2006/main">
              <a:ext uri="{FF2B5EF4-FFF2-40B4-BE49-F238E27FC236}">
                <a16:creationId xmlns:a16="http://schemas.microsoft.com/office/drawing/2014/main" id="{878239CB-D1B3-4EE7-A51B-283AEB8AC94E}"/>
              </a:ext>
            </a:extLst>
          </p:cNvPr>
          <p:cNvSpPr>
            <a:spLocks xmlns:a="http://schemas.openxmlformats.org/drawingml/2006/main" noGrp="1"/>
          </p:cNvSpPr>
          <p:nvPr/>
        </p:nvSpPr>
        <p:spPr>
          <a:xfrm xmlns:a="http://schemas.openxmlformats.org/drawingml/2006/main">
            <a:off x="7658100" y="2781300"/>
            <a:ext cx="381000" cy="228600"/>
          </a:xfrm>
          <a:prstGeom xmlns:a="http://schemas.openxmlformats.org/drawingml/2006/main" prst="rightArrow">
            <a:avLst/>
          </a:prstGeom>
          <a:solidFill xmlns:a="http://schemas.openxmlformats.org/drawingml/2006/main">
            <a:srgbClr val="274258"/>
          </a:solidFill>
          <a:ln xmlns:a="http://schemas.openxmlformats.org/drawingml/2006/main" w="9525">
            <a:solidFill>
              <a:srgbClr val="274258"/>
            </a:solidFill>
            <a:prstDash val="solid"/>
          </a:ln>
        </p:spPr>
      </p:sp>
      <p:sp>
        <p:nvSpPr>
          <p:cNvPr id="7" name="arrow-4">
            <a:extLst xmlns:a="http://schemas.openxmlformats.org/drawingml/2006/main">
              <a:ext uri="{FF2B5EF4-FFF2-40B4-BE49-F238E27FC236}">
                <a16:creationId xmlns:a16="http://schemas.microsoft.com/office/drawing/2014/main" id="{8356F92C-0D3A-40CB-AF1E-4929830BEA39}"/>
              </a:ext>
            </a:extLst>
          </p:cNvPr>
          <p:cNvSpPr>
            <a:spLocks xmlns:a="http://schemas.openxmlformats.org/drawingml/2006/main" noGrp="1"/>
          </p:cNvSpPr>
          <p:nvPr/>
        </p:nvSpPr>
        <p:spPr>
          <a:xfrm xmlns:a="http://schemas.openxmlformats.org/drawingml/2006/main">
            <a:off x="9486900" y="2781300"/>
            <a:ext cx="381000" cy="228600"/>
          </a:xfrm>
          <a:prstGeom xmlns:a="http://schemas.openxmlformats.org/drawingml/2006/main" prst="rightArrow">
            <a:avLst/>
          </a:prstGeom>
          <a:solidFill xmlns:a="http://schemas.openxmlformats.org/drawingml/2006/main">
            <a:srgbClr val="274258"/>
          </a:solidFill>
          <a:ln xmlns:a="http://schemas.openxmlformats.org/drawingml/2006/main" w="9525">
            <a:solidFill>
              <a:srgbClr val="274258"/>
            </a:solidFill>
            <a:prstDash val="solid"/>
          </a:ln>
        </p:spPr>
      </p:sp>
      <p:sp>
        <p:nvSpPr>
          <p:cNvPr id="8" name="node-0">
            <a:extLst xmlns:a="http://schemas.openxmlformats.org/drawingml/2006/main">
              <a:ext uri="{FF2B5EF4-FFF2-40B4-BE49-F238E27FC236}">
                <a16:creationId xmlns:a16="http://schemas.microsoft.com/office/drawing/2014/main" id="{83C17C5D-3F32-417B-9477-CC02DB4D2EDB}"/>
              </a:ext>
            </a:extLst>
          </p:cNvPr>
          <p:cNvSpPr>
            <a:spLocks xmlns:a="http://schemas.openxmlformats.org/drawingml/2006/main" noGrp="1"/>
          </p:cNvSpPr>
          <p:nvPr/>
        </p:nvSpPr>
        <p:spPr>
          <a:xfrm xmlns:a="http://schemas.openxmlformats.org/drawingml/2006/main">
            <a:off x="685800" y="2457450"/>
            <a:ext cx="1504950" cy="933450"/>
          </a:xfrm>
          <a:prstGeom xmlns:a="http://schemas.openxmlformats.org/drawingml/2006/main" prst="roundRect">
            <a:avLst>
              <a:gd name="adj" fmla="val 8163"/>
            </a:avLst>
          </a:prstGeom>
          <a:solidFill xmlns:a="http://schemas.openxmlformats.org/drawingml/2006/main">
            <a:srgbClr val="0B2235"/>
          </a:solidFill>
          <a:ln xmlns:a="http://schemas.openxmlformats.org/drawingml/2006/main" w="9525">
            <a:solidFill>
              <a:srgbClr val="2ED9FF"/>
            </a:solidFill>
            <a:prstDash val="solid"/>
          </a:ln>
        </p:spPr>
      </p:sp>
      <p:sp>
        <p:nvSpPr>
          <p:cNvPr id="9" name="">
            <a:extLst xmlns:a="http://schemas.openxmlformats.org/drawingml/2006/main">
              <a:ext uri="{FF2B5EF4-FFF2-40B4-BE49-F238E27FC236}">
                <a16:creationId xmlns:a16="http://schemas.microsoft.com/office/drawing/2014/main" id="{5CDE9A28-C8D4-4101-9715-5E3B030EA9A6}"/>
              </a:ext>
            </a:extLst>
          </p:cNvPr>
          <p:cNvSpPr>
            <a:spLocks xmlns:a="http://schemas.openxmlformats.org/drawingml/2006/main" noGrp="1"/>
          </p:cNvSpPr>
          <p:nvPr/>
        </p:nvSpPr>
        <p:spPr>
          <a:xfrm xmlns:a="http://schemas.openxmlformats.org/drawingml/2006/main">
            <a:off x="7620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5F7FA"/>
                </a:solidFill>
              </a:defRPr>
            </a:pPr>
            <a:r>
              <a:rPr sz="1350" b="1">
                <a:solidFill>
                  <a:srgbClr val="F5F7FA"/>
                </a:solidFill>
              </a:rPr>
              <a:t>OBSERVE</a:t>
            </a:r>
          </a:p>
        </p:txBody>
      </p:sp>
      <p:sp>
        <p:nvSpPr>
          <p:cNvPr id="10" name="">
            <a:extLst xmlns:a="http://schemas.openxmlformats.org/drawingml/2006/main">
              <a:ext uri="{FF2B5EF4-FFF2-40B4-BE49-F238E27FC236}">
                <a16:creationId xmlns:a16="http://schemas.microsoft.com/office/drawing/2014/main" id="{E259B21B-30C8-4BCE-A83D-D5223BE70509}"/>
              </a:ext>
            </a:extLst>
          </p:cNvPr>
          <p:cNvSpPr>
            <a:spLocks xmlns:a="http://schemas.openxmlformats.org/drawingml/2006/main" noGrp="1"/>
          </p:cNvSpPr>
          <p:nvPr/>
        </p:nvSpPr>
        <p:spPr>
          <a:xfrm xmlns:a="http://schemas.openxmlformats.org/drawingml/2006/main">
            <a:off x="7620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9FB2C2"/>
                </a:solidFill>
              </a:defRPr>
            </a:pPr>
            <a:r>
              <a:rPr sz="975" b="0">
                <a:solidFill>
                  <a:srgbClr val="9FB2C2"/>
                </a:solidFill>
              </a:rPr>
              <a:t>complete typed data</a:t>
            </a:r>
          </a:p>
        </p:txBody>
      </p:sp>
      <p:sp>
        <p:nvSpPr>
          <p:cNvPr id="11" name="node-1">
            <a:extLst xmlns:a="http://schemas.openxmlformats.org/drawingml/2006/main">
              <a:ext uri="{FF2B5EF4-FFF2-40B4-BE49-F238E27FC236}">
                <a16:creationId xmlns:a16="http://schemas.microsoft.com/office/drawing/2014/main" id="{8E9952B7-8306-4F0A-B2B5-74CD3162713B}"/>
              </a:ext>
            </a:extLst>
          </p:cNvPr>
          <p:cNvSpPr>
            <a:spLocks xmlns:a="http://schemas.openxmlformats.org/drawingml/2006/main" noGrp="1"/>
          </p:cNvSpPr>
          <p:nvPr/>
        </p:nvSpPr>
        <p:spPr>
          <a:xfrm xmlns:a="http://schemas.openxmlformats.org/drawingml/2006/main">
            <a:off x="2514600" y="2457450"/>
            <a:ext cx="1504950" cy="933450"/>
          </a:xfrm>
          <a:prstGeom xmlns:a="http://schemas.openxmlformats.org/drawingml/2006/main" prst="roundRect">
            <a:avLst>
              <a:gd name="adj" fmla="val 8163"/>
            </a:avLst>
          </a:prstGeom>
          <a:solidFill xmlns:a="http://schemas.openxmlformats.org/drawingml/2006/main">
            <a:srgbClr val="0B2235"/>
          </a:solidFill>
          <a:ln xmlns:a="http://schemas.openxmlformats.org/drawingml/2006/main" w="9525">
            <a:solidFill>
              <a:srgbClr val="2ED9FF"/>
            </a:solidFill>
            <a:prstDash val="solid"/>
          </a:ln>
        </p:spPr>
      </p:sp>
      <p:sp>
        <p:nvSpPr>
          <p:cNvPr id="12" name="">
            <a:extLst xmlns:a="http://schemas.openxmlformats.org/drawingml/2006/main">
              <a:ext uri="{FF2B5EF4-FFF2-40B4-BE49-F238E27FC236}">
                <a16:creationId xmlns:a16="http://schemas.microsoft.com/office/drawing/2014/main" id="{D4413DBE-ADE2-4116-91A4-CE74665C3DEF}"/>
              </a:ext>
            </a:extLst>
          </p:cNvPr>
          <p:cNvSpPr>
            <a:spLocks xmlns:a="http://schemas.openxmlformats.org/drawingml/2006/main" noGrp="1"/>
          </p:cNvSpPr>
          <p:nvPr/>
        </p:nvSpPr>
        <p:spPr>
          <a:xfrm xmlns:a="http://schemas.openxmlformats.org/drawingml/2006/main">
            <a:off x="25908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5F7FA"/>
                </a:solidFill>
              </a:defRPr>
            </a:pPr>
            <a:r>
              <a:rPr sz="1350" b="1">
                <a:solidFill>
                  <a:srgbClr val="F5F7FA"/>
                </a:solidFill>
              </a:rPr>
              <a:t>PROPOSE</a:t>
            </a:r>
          </a:p>
        </p:txBody>
      </p:sp>
      <p:sp>
        <p:nvSpPr>
          <p:cNvPr id="13" name="">
            <a:extLst xmlns:a="http://schemas.openxmlformats.org/drawingml/2006/main">
              <a:ext uri="{FF2B5EF4-FFF2-40B4-BE49-F238E27FC236}">
                <a16:creationId xmlns:a16="http://schemas.microsoft.com/office/drawing/2014/main" id="{E23A5853-6C83-4AB4-BCA7-ABDBD9FAEC82}"/>
              </a:ext>
            </a:extLst>
          </p:cNvPr>
          <p:cNvSpPr>
            <a:spLocks xmlns:a="http://schemas.openxmlformats.org/drawingml/2006/main" noGrp="1"/>
          </p:cNvSpPr>
          <p:nvPr/>
        </p:nvSpPr>
        <p:spPr>
          <a:xfrm xmlns:a="http://schemas.openxmlformats.org/drawingml/2006/main">
            <a:off x="25908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9FB2C2"/>
                </a:solidFill>
              </a:defRPr>
            </a:pPr>
            <a:r>
              <a:rPr sz="975" b="0">
                <a:solidFill>
                  <a:srgbClr val="9FB2C2"/>
                </a:solidFill>
              </a:rPr>
              <a:t>capped spread</a:t>
            </a:r>
          </a:p>
        </p:txBody>
      </p:sp>
      <p:sp>
        <p:nvSpPr>
          <p:cNvPr id="14" name="node-2">
            <a:extLst xmlns:a="http://schemas.openxmlformats.org/drawingml/2006/main">
              <a:ext uri="{FF2B5EF4-FFF2-40B4-BE49-F238E27FC236}">
                <a16:creationId xmlns:a16="http://schemas.microsoft.com/office/drawing/2014/main" id="{1C1A8E05-5311-4696-9813-9BC57D4DC776}"/>
              </a:ext>
            </a:extLst>
          </p:cNvPr>
          <p:cNvSpPr>
            <a:spLocks xmlns:a="http://schemas.openxmlformats.org/drawingml/2006/main" noGrp="1"/>
          </p:cNvSpPr>
          <p:nvPr/>
        </p:nvSpPr>
        <p:spPr>
          <a:xfrm xmlns:a="http://schemas.openxmlformats.org/drawingml/2006/main">
            <a:off x="4343400" y="2457450"/>
            <a:ext cx="1504950" cy="933450"/>
          </a:xfrm>
          <a:prstGeom xmlns:a="http://schemas.openxmlformats.org/drawingml/2006/main" prst="roundRect">
            <a:avLst>
              <a:gd name="adj" fmla="val 8163"/>
            </a:avLst>
          </a:prstGeom>
          <a:solidFill xmlns:a="http://schemas.openxmlformats.org/drawingml/2006/main">
            <a:srgbClr val="0B2235"/>
          </a:solidFill>
          <a:ln xmlns:a="http://schemas.openxmlformats.org/drawingml/2006/main" w="9525">
            <a:solidFill>
              <a:srgbClr val="2ED9FF"/>
            </a:solidFill>
            <a:prstDash val="solid"/>
          </a:ln>
        </p:spPr>
      </p:sp>
      <p:sp>
        <p:nvSpPr>
          <p:cNvPr id="15" name="">
            <a:extLst xmlns:a="http://schemas.openxmlformats.org/drawingml/2006/main">
              <a:ext uri="{FF2B5EF4-FFF2-40B4-BE49-F238E27FC236}">
                <a16:creationId xmlns:a16="http://schemas.microsoft.com/office/drawing/2014/main" id="{46CFDC0F-ECE4-442E-8AAF-83A15067FB75}"/>
              </a:ext>
            </a:extLst>
          </p:cNvPr>
          <p:cNvSpPr>
            <a:spLocks xmlns:a="http://schemas.openxmlformats.org/drawingml/2006/main" noGrp="1"/>
          </p:cNvSpPr>
          <p:nvPr/>
        </p:nvSpPr>
        <p:spPr>
          <a:xfrm xmlns:a="http://schemas.openxmlformats.org/drawingml/2006/main">
            <a:off x="44196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5F7FA"/>
                </a:solidFill>
              </a:defRPr>
            </a:pPr>
            <a:r>
              <a:rPr sz="1350" b="1">
                <a:solidFill>
                  <a:srgbClr val="F5F7FA"/>
                </a:solidFill>
              </a:rPr>
              <a:t>ADVISE</a:t>
            </a:r>
          </a:p>
        </p:txBody>
      </p:sp>
      <p:sp>
        <p:nvSpPr>
          <p:cNvPr id="16" name="">
            <a:extLst xmlns:a="http://schemas.openxmlformats.org/drawingml/2006/main">
              <a:ext uri="{FF2B5EF4-FFF2-40B4-BE49-F238E27FC236}">
                <a16:creationId xmlns:a16="http://schemas.microsoft.com/office/drawing/2014/main" id="{30DEB717-AD79-4B6D-876E-0E4639FF660F}"/>
              </a:ext>
            </a:extLst>
          </p:cNvPr>
          <p:cNvSpPr>
            <a:spLocks xmlns:a="http://schemas.openxmlformats.org/drawingml/2006/main" noGrp="1"/>
          </p:cNvSpPr>
          <p:nvPr/>
        </p:nvSpPr>
        <p:spPr>
          <a:xfrm xmlns:a="http://schemas.openxmlformats.org/drawingml/2006/main">
            <a:off x="44196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9FB2C2"/>
                </a:solidFill>
              </a:defRPr>
            </a:pPr>
            <a:r>
              <a:rPr sz="975" b="0">
                <a:solidFill>
                  <a:srgbClr val="9FB2C2"/>
                </a:solidFill>
              </a:rPr>
              <a:t>structured veto</a:t>
            </a:r>
          </a:p>
        </p:txBody>
      </p:sp>
      <p:sp>
        <p:nvSpPr>
          <p:cNvPr id="17" name="node-3">
            <a:extLst xmlns:a="http://schemas.openxmlformats.org/drawingml/2006/main">
              <a:ext uri="{FF2B5EF4-FFF2-40B4-BE49-F238E27FC236}">
                <a16:creationId xmlns:a16="http://schemas.microsoft.com/office/drawing/2014/main" id="{74CBA344-FA5F-45CD-B40F-769481BDD10D}"/>
              </a:ext>
            </a:extLst>
          </p:cNvPr>
          <p:cNvSpPr>
            <a:spLocks xmlns:a="http://schemas.openxmlformats.org/drawingml/2006/main" noGrp="1"/>
          </p:cNvSpPr>
          <p:nvPr/>
        </p:nvSpPr>
        <p:spPr>
          <a:xfrm xmlns:a="http://schemas.openxmlformats.org/drawingml/2006/main">
            <a:off x="6172200" y="2457450"/>
            <a:ext cx="1504950" cy="933450"/>
          </a:xfrm>
          <a:prstGeom xmlns:a="http://schemas.openxmlformats.org/drawingml/2006/main" prst="roundRect">
            <a:avLst>
              <a:gd name="adj" fmla="val 8163"/>
            </a:avLst>
          </a:prstGeom>
          <a:solidFill xmlns:a="http://schemas.openxmlformats.org/drawingml/2006/main">
            <a:srgbClr val="E5B95C"/>
          </a:solidFill>
          <a:ln xmlns:a="http://schemas.openxmlformats.org/drawingml/2006/main" w="9525">
            <a:solidFill>
              <a:srgbClr val="E5B95C"/>
            </a:solidFill>
            <a:prstDash val="solid"/>
          </a:ln>
        </p:spPr>
      </p:sp>
      <p:sp>
        <p:nvSpPr>
          <p:cNvPr id="18" name="">
            <a:extLst xmlns:a="http://schemas.openxmlformats.org/drawingml/2006/main">
              <a:ext uri="{FF2B5EF4-FFF2-40B4-BE49-F238E27FC236}">
                <a16:creationId xmlns:a16="http://schemas.microsoft.com/office/drawing/2014/main" id="{2C4A0D53-D3D0-4909-8814-8A6F2B9FC6AA}"/>
              </a:ext>
            </a:extLst>
          </p:cNvPr>
          <p:cNvSpPr>
            <a:spLocks xmlns:a="http://schemas.openxmlformats.org/drawingml/2006/main" noGrp="1"/>
          </p:cNvSpPr>
          <p:nvPr/>
        </p:nvSpPr>
        <p:spPr>
          <a:xfrm xmlns:a="http://schemas.openxmlformats.org/drawingml/2006/main">
            <a:off x="62484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61321"/>
                </a:solidFill>
              </a:defRPr>
            </a:pPr>
            <a:r>
              <a:rPr sz="1350" b="1">
                <a:solidFill>
                  <a:srgbClr val="061321"/>
                </a:solidFill>
              </a:rPr>
              <a:t>RECOMPUTE</a:t>
            </a:r>
          </a:p>
        </p:txBody>
      </p:sp>
      <p:sp>
        <p:nvSpPr>
          <p:cNvPr id="19" name="">
            <a:extLst xmlns:a="http://schemas.openxmlformats.org/drawingml/2006/main">
              <a:ext uri="{FF2B5EF4-FFF2-40B4-BE49-F238E27FC236}">
                <a16:creationId xmlns:a16="http://schemas.microsoft.com/office/drawing/2014/main" id="{5A3CF779-FFFE-4562-B5E7-FE46A0D6E993}"/>
              </a:ext>
            </a:extLst>
          </p:cNvPr>
          <p:cNvSpPr>
            <a:spLocks xmlns:a="http://schemas.openxmlformats.org/drawingml/2006/main" noGrp="1"/>
          </p:cNvSpPr>
          <p:nvPr/>
        </p:nvSpPr>
        <p:spPr>
          <a:xfrm xmlns:a="http://schemas.openxmlformats.org/drawingml/2006/main">
            <a:off x="62484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061321"/>
                </a:solidFill>
              </a:defRPr>
            </a:pPr>
            <a:r>
              <a:rPr sz="975" b="0">
                <a:solidFill>
                  <a:srgbClr val="061321"/>
                </a:solidFill>
              </a:rPr>
              <a:t>quote economics</a:t>
            </a:r>
          </a:p>
        </p:txBody>
      </p:sp>
      <p:sp>
        <p:nvSpPr>
          <p:cNvPr id="20" name="node-4">
            <a:extLst xmlns:a="http://schemas.openxmlformats.org/drawingml/2006/main">
              <a:ext uri="{FF2B5EF4-FFF2-40B4-BE49-F238E27FC236}">
                <a16:creationId xmlns:a16="http://schemas.microsoft.com/office/drawing/2014/main" id="{F76944A6-6649-4614-AC6A-2A46E94279C4}"/>
              </a:ext>
            </a:extLst>
          </p:cNvPr>
          <p:cNvSpPr>
            <a:spLocks xmlns:a="http://schemas.openxmlformats.org/drawingml/2006/main" noGrp="1"/>
          </p:cNvSpPr>
          <p:nvPr/>
        </p:nvSpPr>
        <p:spPr>
          <a:xfrm xmlns:a="http://schemas.openxmlformats.org/drawingml/2006/main">
            <a:off x="8001000" y="2457450"/>
            <a:ext cx="1504950" cy="933450"/>
          </a:xfrm>
          <a:prstGeom xmlns:a="http://schemas.openxmlformats.org/drawingml/2006/main" prst="roundRect">
            <a:avLst>
              <a:gd name="adj" fmla="val 8163"/>
            </a:avLst>
          </a:prstGeom>
          <a:solidFill xmlns:a="http://schemas.openxmlformats.org/drawingml/2006/main">
            <a:srgbClr val="0B2235"/>
          </a:solidFill>
          <a:ln xmlns:a="http://schemas.openxmlformats.org/drawingml/2006/main" w="9525">
            <a:solidFill>
              <a:srgbClr val="2ED9FF"/>
            </a:solidFill>
            <a:prstDash val="solid"/>
          </a:ln>
        </p:spPr>
      </p:sp>
      <p:sp>
        <p:nvSpPr>
          <p:cNvPr id="21" name="">
            <a:extLst xmlns:a="http://schemas.openxmlformats.org/drawingml/2006/main">
              <a:ext uri="{FF2B5EF4-FFF2-40B4-BE49-F238E27FC236}">
                <a16:creationId xmlns:a16="http://schemas.microsoft.com/office/drawing/2014/main" id="{D25253A7-FEC4-4773-B889-4DC348673475}"/>
              </a:ext>
            </a:extLst>
          </p:cNvPr>
          <p:cNvSpPr>
            <a:spLocks xmlns:a="http://schemas.openxmlformats.org/drawingml/2006/main" noGrp="1"/>
          </p:cNvSpPr>
          <p:nvPr/>
        </p:nvSpPr>
        <p:spPr>
          <a:xfrm xmlns:a="http://schemas.openxmlformats.org/drawingml/2006/main">
            <a:off x="80772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5F7FA"/>
                </a:solidFill>
              </a:defRPr>
            </a:pPr>
            <a:r>
              <a:rPr sz="1350" b="1">
                <a:solidFill>
                  <a:srgbClr val="F5F7FA"/>
                </a:solidFill>
              </a:rPr>
              <a:t>PLAN / ABSTAIN</a:t>
            </a:r>
          </a:p>
        </p:txBody>
      </p:sp>
      <p:sp>
        <p:nvSpPr>
          <p:cNvPr id="22" name="">
            <a:extLst xmlns:a="http://schemas.openxmlformats.org/drawingml/2006/main">
              <a:ext uri="{FF2B5EF4-FFF2-40B4-BE49-F238E27FC236}">
                <a16:creationId xmlns:a16="http://schemas.microsoft.com/office/drawing/2014/main" id="{3326A780-4FDF-4E06-9D1B-2C0DC0BF7EBD}"/>
              </a:ext>
            </a:extLst>
          </p:cNvPr>
          <p:cNvSpPr>
            <a:spLocks xmlns:a="http://schemas.openxmlformats.org/drawingml/2006/main" noGrp="1"/>
          </p:cNvSpPr>
          <p:nvPr/>
        </p:nvSpPr>
        <p:spPr>
          <a:xfrm xmlns:a="http://schemas.openxmlformats.org/drawingml/2006/main">
            <a:off x="80772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9FB2C2"/>
                </a:solidFill>
              </a:defRPr>
            </a:pPr>
            <a:r>
              <a:rPr sz="975" b="0">
                <a:solidFill>
                  <a:srgbClr val="9FB2C2"/>
                </a:solidFill>
              </a:rPr>
              <a:t>paper shape</a:t>
            </a:r>
          </a:p>
        </p:txBody>
      </p:sp>
      <p:sp>
        <p:nvSpPr>
          <p:cNvPr id="23" name="node-5">
            <a:extLst xmlns:a="http://schemas.openxmlformats.org/drawingml/2006/main">
              <a:ext uri="{FF2B5EF4-FFF2-40B4-BE49-F238E27FC236}">
                <a16:creationId xmlns:a16="http://schemas.microsoft.com/office/drawing/2014/main" id="{615C172E-6CCE-4625-BDFF-A6F78E8702A0}"/>
              </a:ext>
            </a:extLst>
          </p:cNvPr>
          <p:cNvSpPr>
            <a:spLocks xmlns:a="http://schemas.openxmlformats.org/drawingml/2006/main" noGrp="1"/>
          </p:cNvSpPr>
          <p:nvPr/>
        </p:nvSpPr>
        <p:spPr>
          <a:xfrm xmlns:a="http://schemas.openxmlformats.org/drawingml/2006/main">
            <a:off x="9829800" y="2457450"/>
            <a:ext cx="1504950" cy="933450"/>
          </a:xfrm>
          <a:prstGeom xmlns:a="http://schemas.openxmlformats.org/drawingml/2006/main" prst="roundRect">
            <a:avLst>
              <a:gd name="adj" fmla="val 8163"/>
            </a:avLst>
          </a:prstGeom>
          <a:solidFill xmlns:a="http://schemas.openxmlformats.org/drawingml/2006/main">
            <a:srgbClr val="0B2235"/>
          </a:solidFill>
          <a:ln xmlns:a="http://schemas.openxmlformats.org/drawingml/2006/main" w="9525">
            <a:solidFill>
              <a:srgbClr val="2ED9FF"/>
            </a:solidFill>
            <a:prstDash val="solid"/>
          </a:ln>
        </p:spPr>
      </p:sp>
      <p:sp>
        <p:nvSpPr>
          <p:cNvPr id="24" name="">
            <a:extLst xmlns:a="http://schemas.openxmlformats.org/drawingml/2006/main">
              <a:ext uri="{FF2B5EF4-FFF2-40B4-BE49-F238E27FC236}">
                <a16:creationId xmlns:a16="http://schemas.microsoft.com/office/drawing/2014/main" id="{665797E9-99BF-4CDD-B096-A365BBAAD2A5}"/>
              </a:ext>
            </a:extLst>
          </p:cNvPr>
          <p:cNvSpPr>
            <a:spLocks xmlns:a="http://schemas.openxmlformats.org/drawingml/2006/main" noGrp="1"/>
          </p:cNvSpPr>
          <p:nvPr/>
        </p:nvSpPr>
        <p:spPr>
          <a:xfrm xmlns:a="http://schemas.openxmlformats.org/drawingml/2006/main">
            <a:off x="9906000" y="2647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5F7FA"/>
                </a:solidFill>
              </a:defRPr>
            </a:pPr>
            <a:r>
              <a:rPr sz="1350" b="1">
                <a:solidFill>
                  <a:srgbClr val="F5F7FA"/>
                </a:solidFill>
              </a:rPr>
              <a:t>LEDGER</a:t>
            </a:r>
          </a:p>
        </p:txBody>
      </p:sp>
      <p:sp>
        <p:nvSpPr>
          <p:cNvPr id="25" name="">
            <a:extLst xmlns:a="http://schemas.openxmlformats.org/drawingml/2006/main">
              <a:ext uri="{FF2B5EF4-FFF2-40B4-BE49-F238E27FC236}">
                <a16:creationId xmlns:a16="http://schemas.microsoft.com/office/drawing/2014/main" id="{488B68E6-4B90-4457-AAC5-BDA63EE479BC}"/>
              </a:ext>
            </a:extLst>
          </p:cNvPr>
          <p:cNvSpPr>
            <a:spLocks xmlns:a="http://schemas.openxmlformats.org/drawingml/2006/main" noGrp="1"/>
          </p:cNvSpPr>
          <p:nvPr/>
        </p:nvSpPr>
        <p:spPr>
          <a:xfrm xmlns:a="http://schemas.openxmlformats.org/drawingml/2006/main">
            <a:off x="9906000" y="300990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a:solidFill>
                  <a:srgbClr val="9FB2C2"/>
                </a:solidFill>
              </a:defRPr>
            </a:pPr>
            <a:r>
              <a:rPr sz="975" b="0">
                <a:solidFill>
                  <a:srgbClr val="9FB2C2"/>
                </a:solidFill>
              </a:rPr>
              <a:t>hash chain</a:t>
            </a:r>
          </a:p>
        </p:txBody>
      </p:sp>
      <p:sp>
        <p:nvSpPr>
          <p:cNvPr id="26" name="">
            <a:extLst xmlns:a="http://schemas.openxmlformats.org/drawingml/2006/main">
              <a:ext uri="{FF2B5EF4-FFF2-40B4-BE49-F238E27FC236}">
                <a16:creationId xmlns:a16="http://schemas.microsoft.com/office/drawing/2014/main" id="{18015A9C-9E4C-4D88-9D1A-C0BFB9C760AA}"/>
              </a:ext>
            </a:extLst>
          </p:cNvPr>
          <p:cNvSpPr>
            <a:spLocks xmlns:a="http://schemas.openxmlformats.org/drawingml/2006/main" noGrp="1"/>
          </p:cNvSpPr>
          <p:nvPr/>
        </p:nvSpPr>
        <p:spPr>
          <a:xfrm xmlns:a="http://schemas.openxmlformats.org/drawingml/2006/main">
            <a:off x="1657350" y="4038600"/>
            <a:ext cx="887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5F7FA"/>
                </a:solidFill>
              </a:defRPr>
            </a:pPr>
            <a:r>
              <a:rPr sz="1875" b="1">
                <a:solidFill>
                  <a:srgbClr val="F5F7FA"/>
                </a:solidFill>
              </a:rPr>
              <a:t>The adviser may veto. Only quote-derived deterministic policy can permit a plan.</a:t>
            </a:r>
          </a:p>
        </p:txBody>
      </p:sp>
      <p:sp>
        <p:nvSpPr>
          <p:cNvPr id="27" name="">
            <a:extLst xmlns:a="http://schemas.openxmlformats.org/drawingml/2006/main">
              <a:ext uri="{FF2B5EF4-FFF2-40B4-BE49-F238E27FC236}">
                <a16:creationId xmlns:a16="http://schemas.microsoft.com/office/drawing/2014/main" id="{339A7B5B-8FC8-4F83-A2B4-5EC6A89C3368}"/>
              </a:ext>
            </a:extLst>
          </p:cNvPr>
          <p:cNvSpPr>
            <a:spLocks xmlns:a="http://schemas.openxmlformats.org/drawingml/2006/main" noGrp="1"/>
          </p:cNvSpPr>
          <p:nvPr/>
        </p:nvSpPr>
        <p:spPr>
          <a:xfrm xmlns:a="http://schemas.openxmlformats.org/drawingml/2006/main">
            <a:off x="2095500" y="4914900"/>
            <a:ext cx="800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2ED9FF"/>
                </a:solidFill>
              </a:defRPr>
            </a:pPr>
            <a:r>
              <a:rPr sz="1350" b="0">
                <a:solidFill>
                  <a:srgbClr val="2ED9FF"/>
                </a:solidFill>
              </a:rPr>
              <a:t>The public path validates Alpaca’s multi-leg order shape but never sends it.</a:t>
            </a:r>
          </a:p>
        </p:txBody>
      </p:sp>
      <p:sp>
        <p:nvSpPr>
          <p:cNvPr id="28" name="">
            <a:extLst xmlns:a="http://schemas.openxmlformats.org/drawingml/2006/main">
              <a:ext uri="{FF2B5EF4-FFF2-40B4-BE49-F238E27FC236}">
                <a16:creationId xmlns:a16="http://schemas.microsoft.com/office/drawing/2014/main" id="{804ED9E3-4B02-40FD-AA9A-5539E1DE5D5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29" name="">
            <a:extLst xmlns:a="http://schemas.openxmlformats.org/drawingml/2006/main">
              <a:ext uri="{FF2B5EF4-FFF2-40B4-BE49-F238E27FC236}">
                <a16:creationId xmlns:a16="http://schemas.microsoft.com/office/drawing/2014/main" id="{ABA716A1-3577-44B9-B623-C3096AC0A978}"/>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30" name="">
            <a:extLst xmlns:a="http://schemas.openxmlformats.org/drawingml/2006/main">
              <a:ext uri="{FF2B5EF4-FFF2-40B4-BE49-F238E27FC236}">
                <a16:creationId xmlns:a16="http://schemas.microsoft.com/office/drawing/2014/main" id="{D23E8C11-DB80-4053-83A9-0BDE3AA1FD22}"/>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04</a:t>
            </a:r>
          </a:p>
        </p:txBody>
      </p:sp>
    </p:spTree>
    <p:extLst>
      <p:ext uri="{BB962C8B-B14F-4D97-AF65-F5344CB8AC3E}">
        <p14:creationId xmlns:p14="http://schemas.microsoft.com/office/powerpoint/2010/main" val="1873323681"/>
      </p:ext>
    </p:extLst>
  </p:cSld>
</p:sld>
</file>

<file path=ppt/slides/slide5.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C822ED-FD34-4DAF-B7EF-0EEB6085E79C}"/>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THE 30-SECOND DEMO</a:t>
            </a:r>
          </a:p>
        </p:txBody>
      </p:sp>
      <p:sp>
        <p:nvSpPr>
          <p:cNvPr id="2" name="">
            <a:extLst xmlns:a="http://schemas.openxmlformats.org/drawingml/2006/main">
              <a:ext uri="{FF2B5EF4-FFF2-40B4-BE49-F238E27FC236}">
                <a16:creationId xmlns:a16="http://schemas.microsoft.com/office/drawing/2014/main" id="{8D76C875-4EBB-4ECE-BC53-4EACA300CC4B}"/>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Change one fact; the same candidate stops</a:t>
            </a:r>
          </a:p>
        </p:txBody>
      </p:sp>
      <p:sp>
        <p:nvSpPr>
          <p:cNvPr id="3" name="">
            <a:extLst xmlns:a="http://schemas.openxmlformats.org/drawingml/2006/main">
              <a:ext uri="{FF2B5EF4-FFF2-40B4-BE49-F238E27FC236}">
                <a16:creationId xmlns:a16="http://schemas.microsoft.com/office/drawing/2014/main" id="{275335D3-C639-4E57-9580-FB79BBB48C17}"/>
              </a:ext>
            </a:extLst>
          </p:cNvPr>
          <p:cNvSpPr>
            <a:spLocks xmlns:a="http://schemas.openxmlformats.org/drawingml/2006/main" noGrp="1"/>
          </p:cNvSpPr>
          <p:nvPr/>
        </p:nvSpPr>
        <p:spPr>
          <a:xfrm xmlns:a="http://schemas.openxmlformats.org/drawingml/2006/main">
            <a:off x="6086475" y="1752600"/>
            <a:ext cx="19050" cy="3752850"/>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4" name="">
            <a:extLst xmlns:a="http://schemas.openxmlformats.org/drawingml/2006/main">
              <a:ext uri="{FF2B5EF4-FFF2-40B4-BE49-F238E27FC236}">
                <a16:creationId xmlns:a16="http://schemas.microsoft.com/office/drawing/2014/main" id="{28F813CD-C6B8-4976-81C1-0F5A30D67F81}"/>
              </a:ext>
            </a:extLst>
          </p:cNvPr>
          <p:cNvSpPr>
            <a:spLocks xmlns:a="http://schemas.openxmlformats.org/drawingml/2006/main" noGrp="1"/>
          </p:cNvSpPr>
          <p:nvPr/>
        </p:nvSpPr>
        <p:spPr>
          <a:xfrm xmlns:a="http://schemas.openxmlformats.org/drawingml/2006/main">
            <a:off x="857250" y="20383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5250" b="1">
                <a:solidFill>
                  <a:srgbClr val="54E0B3"/>
                </a:solidFill>
              </a:defRPr>
            </a:pPr>
            <a:r>
              <a:rPr sz="5250" b="1">
                <a:solidFill>
                  <a:srgbClr val="54E0B3"/>
                </a:solidFill>
              </a:rPr>
              <a:t>12 s</a:t>
            </a:r>
          </a:p>
        </p:txBody>
      </p:sp>
      <p:sp>
        <p:nvSpPr>
          <p:cNvPr id="5" name="">
            <a:extLst xmlns:a="http://schemas.openxmlformats.org/drawingml/2006/main">
              <a:ext uri="{FF2B5EF4-FFF2-40B4-BE49-F238E27FC236}">
                <a16:creationId xmlns:a16="http://schemas.microsoft.com/office/drawing/2014/main" id="{EAFE099E-F1C6-4AA3-9DEA-FF4846AC971A}"/>
              </a:ext>
            </a:extLst>
          </p:cNvPr>
          <p:cNvSpPr>
            <a:spLocks xmlns:a="http://schemas.openxmlformats.org/drawingml/2006/main" noGrp="1"/>
          </p:cNvSpPr>
          <p:nvPr/>
        </p:nvSpPr>
        <p:spPr>
          <a:xfrm xmlns:a="http://schemas.openxmlformats.org/drawingml/2006/main">
            <a:off x="857250" y="30099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9FB2C2"/>
                </a:solidFill>
              </a:defRPr>
            </a:pPr>
            <a:r>
              <a:rPr sz="1650" b="0">
                <a:solidFill>
                  <a:srgbClr val="9FB2C2"/>
                </a:solidFill>
              </a:rPr>
              <a:t>evidence age</a:t>
            </a:r>
          </a:p>
        </p:txBody>
      </p:sp>
      <p:sp>
        <p:nvSpPr>
          <p:cNvPr id="6" name="">
            <a:extLst xmlns:a="http://schemas.openxmlformats.org/drawingml/2006/main">
              <a:ext uri="{FF2B5EF4-FFF2-40B4-BE49-F238E27FC236}">
                <a16:creationId xmlns:a16="http://schemas.microsoft.com/office/drawing/2014/main" id="{9BD1E368-8DBE-41FE-9887-B16C2E4B0159}"/>
              </a:ext>
            </a:extLst>
          </p:cNvPr>
          <p:cNvSpPr>
            <a:spLocks xmlns:a="http://schemas.openxmlformats.org/drawingml/2006/main" noGrp="1"/>
          </p:cNvSpPr>
          <p:nvPr/>
        </p:nvSpPr>
        <p:spPr>
          <a:xfrm xmlns:a="http://schemas.openxmlformats.org/drawingml/2006/main">
            <a:off x="857250" y="38290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900" b="1">
                <a:solidFill>
                  <a:srgbClr val="F5F7FA"/>
                </a:solidFill>
              </a:defRPr>
            </a:pPr>
            <a:r>
              <a:rPr sz="3900" b="1">
                <a:solidFill>
                  <a:srgbClr val="F5F7FA"/>
                </a:solidFill>
              </a:rPr>
              <a:t>PASS</a:t>
            </a:r>
          </a:p>
        </p:txBody>
      </p:sp>
      <p:sp>
        <p:nvSpPr>
          <p:cNvPr id="7" name="">
            <a:extLst xmlns:a="http://schemas.openxmlformats.org/drawingml/2006/main">
              <a:ext uri="{FF2B5EF4-FFF2-40B4-BE49-F238E27FC236}">
                <a16:creationId xmlns:a16="http://schemas.microsoft.com/office/drawing/2014/main" id="{D4983978-50FD-4630-B6A0-91A97CA2A09B}"/>
              </a:ext>
            </a:extLst>
          </p:cNvPr>
          <p:cNvSpPr>
            <a:spLocks xmlns:a="http://schemas.openxmlformats.org/drawingml/2006/main" noGrp="1"/>
          </p:cNvSpPr>
          <p:nvPr/>
        </p:nvSpPr>
        <p:spPr>
          <a:xfrm xmlns:a="http://schemas.openxmlformats.org/drawingml/2006/main">
            <a:off x="857250" y="46482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2ED9FF"/>
                </a:solidFill>
              </a:defRPr>
            </a:pPr>
            <a:r>
              <a:rPr sz="1350" b="0">
                <a:solidFill>
                  <a:srgbClr val="2ED9FF"/>
                </a:solidFill>
              </a:rPr>
              <a:t>simulated receipt</a:t>
            </a:r>
          </a:p>
        </p:txBody>
      </p:sp>
      <p:sp>
        <p:nvSpPr>
          <p:cNvPr id="8" name="">
            <a:extLst xmlns:a="http://schemas.openxmlformats.org/drawingml/2006/main">
              <a:ext uri="{FF2B5EF4-FFF2-40B4-BE49-F238E27FC236}">
                <a16:creationId xmlns:a16="http://schemas.microsoft.com/office/drawing/2014/main" id="{022546B5-60E3-48C9-95FC-AEE2E847BED2}"/>
              </a:ext>
            </a:extLst>
          </p:cNvPr>
          <p:cNvSpPr>
            <a:spLocks xmlns:a="http://schemas.openxmlformats.org/drawingml/2006/main" noGrp="1"/>
          </p:cNvSpPr>
          <p:nvPr/>
        </p:nvSpPr>
        <p:spPr>
          <a:xfrm xmlns:a="http://schemas.openxmlformats.org/drawingml/2006/main">
            <a:off x="6858000" y="20383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5250" b="1">
                <a:solidFill>
                  <a:srgbClr val="FF7D8B"/>
                </a:solidFill>
              </a:defRPr>
            </a:pPr>
            <a:r>
              <a:rPr sz="5250" b="1">
                <a:solidFill>
                  <a:srgbClr val="FF7D8B"/>
                </a:solidFill>
              </a:rPr>
              <a:t>900 s</a:t>
            </a:r>
          </a:p>
        </p:txBody>
      </p:sp>
      <p:sp>
        <p:nvSpPr>
          <p:cNvPr id="9" name="">
            <a:extLst xmlns:a="http://schemas.openxmlformats.org/drawingml/2006/main">
              <a:ext uri="{FF2B5EF4-FFF2-40B4-BE49-F238E27FC236}">
                <a16:creationId xmlns:a16="http://schemas.microsoft.com/office/drawing/2014/main" id="{F3C429F5-E6A2-4FC4-8174-1C43DA8E717C}"/>
              </a:ext>
            </a:extLst>
          </p:cNvPr>
          <p:cNvSpPr>
            <a:spLocks xmlns:a="http://schemas.openxmlformats.org/drawingml/2006/main" noGrp="1"/>
          </p:cNvSpPr>
          <p:nvPr/>
        </p:nvSpPr>
        <p:spPr>
          <a:xfrm xmlns:a="http://schemas.openxmlformats.org/drawingml/2006/main">
            <a:off x="6858000" y="30099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9FB2C2"/>
                </a:solidFill>
              </a:defRPr>
            </a:pPr>
            <a:r>
              <a:rPr sz="1650" b="0">
                <a:solidFill>
                  <a:srgbClr val="9FB2C2"/>
                </a:solidFill>
              </a:rPr>
              <a:t>evidence age</a:t>
            </a:r>
          </a:p>
        </p:txBody>
      </p:sp>
      <p:sp>
        <p:nvSpPr>
          <p:cNvPr id="10" name="">
            <a:extLst xmlns:a="http://schemas.openxmlformats.org/drawingml/2006/main">
              <a:ext uri="{FF2B5EF4-FFF2-40B4-BE49-F238E27FC236}">
                <a16:creationId xmlns:a16="http://schemas.microsoft.com/office/drawing/2014/main" id="{3F34B69B-5E92-4641-B585-C1A57B8B8242}"/>
              </a:ext>
            </a:extLst>
          </p:cNvPr>
          <p:cNvSpPr>
            <a:spLocks xmlns:a="http://schemas.openxmlformats.org/drawingml/2006/main" noGrp="1"/>
          </p:cNvSpPr>
          <p:nvPr/>
        </p:nvSpPr>
        <p:spPr>
          <a:xfrm xmlns:a="http://schemas.openxmlformats.org/drawingml/2006/main">
            <a:off x="6858000" y="38290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900" b="1">
                <a:solidFill>
                  <a:srgbClr val="F5F7FA"/>
                </a:solidFill>
              </a:defRPr>
            </a:pPr>
            <a:r>
              <a:rPr sz="3900" b="1">
                <a:solidFill>
                  <a:srgbClr val="F5F7FA"/>
                </a:solidFill>
              </a:rPr>
              <a:t>ABSTAIN</a:t>
            </a:r>
          </a:p>
        </p:txBody>
      </p:sp>
      <p:sp>
        <p:nvSpPr>
          <p:cNvPr id="11" name="">
            <a:extLst xmlns:a="http://schemas.openxmlformats.org/drawingml/2006/main">
              <a:ext uri="{FF2B5EF4-FFF2-40B4-BE49-F238E27FC236}">
                <a16:creationId xmlns:a16="http://schemas.microsoft.com/office/drawing/2014/main" id="{8910E976-7931-4623-ACEE-91E456022909}"/>
              </a:ext>
            </a:extLst>
          </p:cNvPr>
          <p:cNvSpPr>
            <a:spLocks xmlns:a="http://schemas.openxmlformats.org/drawingml/2006/main" noGrp="1"/>
          </p:cNvSpPr>
          <p:nvPr/>
        </p:nvSpPr>
        <p:spPr>
          <a:xfrm xmlns:a="http://schemas.openxmlformats.org/drawingml/2006/main">
            <a:off x="6858000" y="46482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E5B95C"/>
                </a:solidFill>
              </a:defRPr>
            </a:pPr>
            <a:r>
              <a:rPr sz="1350" b="0">
                <a:solidFill>
                  <a:srgbClr val="E5B95C"/>
                </a:solidFill>
              </a:rPr>
              <a:t>rejection receipt</a:t>
            </a:r>
          </a:p>
        </p:txBody>
      </p:sp>
      <p:sp>
        <p:nvSpPr>
          <p:cNvPr id="12" name="">
            <a:extLst xmlns:a="http://schemas.openxmlformats.org/drawingml/2006/main">
              <a:ext uri="{FF2B5EF4-FFF2-40B4-BE49-F238E27FC236}">
                <a16:creationId xmlns:a16="http://schemas.microsoft.com/office/drawing/2014/main" id="{B9D8B988-682A-4BEB-86A3-C7514D5FDDF8}"/>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3" name="">
            <a:extLst xmlns:a="http://schemas.openxmlformats.org/drawingml/2006/main">
              <a:ext uri="{FF2B5EF4-FFF2-40B4-BE49-F238E27FC236}">
                <a16:creationId xmlns:a16="http://schemas.microsoft.com/office/drawing/2014/main" id="{DA91321A-66F9-421B-88B1-CD41174552CF}"/>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4" name="">
            <a:extLst xmlns:a="http://schemas.openxmlformats.org/drawingml/2006/main">
              <a:ext uri="{FF2B5EF4-FFF2-40B4-BE49-F238E27FC236}">
                <a16:creationId xmlns:a16="http://schemas.microsoft.com/office/drawing/2014/main" id="{C4E70930-FDE4-4D9D-8FBE-D6112FCEC955}"/>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05</a:t>
            </a:r>
          </a:p>
        </p:txBody>
      </p:sp>
    </p:spTree>
    <p:extLst>
      <p:ext uri="{BB962C8B-B14F-4D97-AF65-F5344CB8AC3E}">
        <p14:creationId xmlns:p14="http://schemas.microsoft.com/office/powerpoint/2010/main" val="553508632"/>
      </p:ext>
    </p:extLst>
  </p:cSld>
</p:sld>
</file>

<file path=ppt/slides/slide6.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0311A65-33EA-45D7-88B1-4F4F99E180A2}"/>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CLOCK + RISK CONTROLS</a:t>
            </a:r>
          </a:p>
        </p:txBody>
      </p:sp>
      <p:sp>
        <p:nvSpPr>
          <p:cNvPr id="2" name="">
            <a:extLst xmlns:a="http://schemas.openxmlformats.org/drawingml/2006/main">
              <a:ext uri="{FF2B5EF4-FFF2-40B4-BE49-F238E27FC236}">
                <a16:creationId xmlns:a16="http://schemas.microsoft.com/office/drawing/2014/main" id="{EB96A49E-E9EA-4758-9D57-B92710F8F587}"/>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Six controls outrank every model score</a:t>
            </a:r>
          </a:p>
        </p:txBody>
      </p:sp>
      <p:sp>
        <p:nvSpPr>
          <p:cNvPr id="3" name="">
            <a:extLst xmlns:a="http://schemas.openxmlformats.org/drawingml/2006/main">
              <a:ext uri="{FF2B5EF4-FFF2-40B4-BE49-F238E27FC236}">
                <a16:creationId xmlns:a16="http://schemas.microsoft.com/office/drawing/2014/main" id="{C26AC114-0612-482C-B87A-06B2C4BCBD59}"/>
              </a:ext>
            </a:extLst>
          </p:cNvPr>
          <p:cNvSpPr>
            <a:spLocks xmlns:a="http://schemas.openxmlformats.org/drawingml/2006/main" noGrp="1"/>
          </p:cNvSpPr>
          <p:nvPr/>
        </p:nvSpPr>
        <p:spPr>
          <a:xfrm xmlns:a="http://schemas.openxmlformats.org/drawingml/2006/main">
            <a:off x="781050" y="17716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2ED9FF"/>
                </a:solidFill>
              </a:defRPr>
            </a:pPr>
            <a:r>
              <a:rPr sz="1275" b="1">
                <a:solidFill>
                  <a:srgbClr val="2ED9FF"/>
                </a:solidFill>
              </a:rPr>
              <a:t>01</a:t>
            </a:r>
          </a:p>
        </p:txBody>
      </p:sp>
      <p:sp>
        <p:nvSpPr>
          <p:cNvPr id="4" name="">
            <a:extLst xmlns:a="http://schemas.openxmlformats.org/drawingml/2006/main">
              <a:ext uri="{FF2B5EF4-FFF2-40B4-BE49-F238E27FC236}">
                <a16:creationId xmlns:a16="http://schemas.microsoft.com/office/drawing/2014/main" id="{D5EA0674-4EA0-481E-B33B-728AA94545E9}"/>
              </a:ext>
            </a:extLst>
          </p:cNvPr>
          <p:cNvSpPr>
            <a:spLocks xmlns:a="http://schemas.openxmlformats.org/drawingml/2006/main" noGrp="1"/>
          </p:cNvSpPr>
          <p:nvPr/>
        </p:nvSpPr>
        <p:spPr>
          <a:xfrm xmlns:a="http://schemas.openxmlformats.org/drawingml/2006/main">
            <a:off x="1371600" y="1885950"/>
            <a:ext cx="685800" cy="19050"/>
          </a:xfrm>
          <a:prstGeom xmlns:a="http://schemas.openxmlformats.org/drawingml/2006/main" prst="rect">
            <a:avLst/>
          </a:prstGeom>
          <a:solidFill xmlns:a="http://schemas.openxmlformats.org/drawingml/2006/main">
            <a:srgbClr val="2ED9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D1331F-466B-461D-9673-29743B4A6663}"/>
              </a:ext>
            </a:extLst>
          </p:cNvPr>
          <p:cNvSpPr>
            <a:spLocks xmlns:a="http://schemas.openxmlformats.org/drawingml/2006/main" noGrp="1"/>
          </p:cNvSpPr>
          <p:nvPr/>
        </p:nvSpPr>
        <p:spPr>
          <a:xfrm xmlns:a="http://schemas.openxmlformats.org/drawingml/2006/main">
            <a:off x="2305050" y="17335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paper only; exact account and one writer</a:t>
            </a:r>
          </a:p>
        </p:txBody>
      </p:sp>
      <p:sp>
        <p:nvSpPr>
          <p:cNvPr id="6" name="">
            <a:extLst xmlns:a="http://schemas.openxmlformats.org/drawingml/2006/main">
              <a:ext uri="{FF2B5EF4-FFF2-40B4-BE49-F238E27FC236}">
                <a16:creationId xmlns:a16="http://schemas.microsoft.com/office/drawing/2014/main" id="{836BC7C7-29E9-4FCF-B165-3FE164CF9732}"/>
              </a:ext>
            </a:extLst>
          </p:cNvPr>
          <p:cNvSpPr>
            <a:spLocks xmlns:a="http://schemas.openxmlformats.org/drawingml/2006/main" noGrp="1"/>
          </p:cNvSpPr>
          <p:nvPr/>
        </p:nvSpPr>
        <p:spPr>
          <a:xfrm xmlns:a="http://schemas.openxmlformats.org/drawingml/2006/main">
            <a:off x="781050" y="2400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2ED9FF"/>
                </a:solidFill>
              </a:defRPr>
            </a:pPr>
            <a:r>
              <a:rPr sz="1275" b="1">
                <a:solidFill>
                  <a:srgbClr val="2ED9FF"/>
                </a:solidFill>
              </a:rPr>
              <a:t>02</a:t>
            </a:r>
          </a:p>
        </p:txBody>
      </p:sp>
      <p:sp>
        <p:nvSpPr>
          <p:cNvPr id="7" name="">
            <a:extLst xmlns:a="http://schemas.openxmlformats.org/drawingml/2006/main">
              <a:ext uri="{FF2B5EF4-FFF2-40B4-BE49-F238E27FC236}">
                <a16:creationId xmlns:a16="http://schemas.microsoft.com/office/drawing/2014/main" id="{1C09C9FF-839E-4461-9189-05E1A22D1451}"/>
              </a:ext>
            </a:extLst>
          </p:cNvPr>
          <p:cNvSpPr>
            <a:spLocks xmlns:a="http://schemas.openxmlformats.org/drawingml/2006/main" noGrp="1"/>
          </p:cNvSpPr>
          <p:nvPr/>
        </p:nvSpPr>
        <p:spPr>
          <a:xfrm xmlns:a="http://schemas.openxmlformats.org/drawingml/2006/main">
            <a:off x="1371600" y="2514600"/>
            <a:ext cx="685800" cy="19050"/>
          </a:xfrm>
          <a:prstGeom xmlns:a="http://schemas.openxmlformats.org/drawingml/2006/main" prst="rect">
            <a:avLst/>
          </a:prstGeom>
          <a:solidFill xmlns:a="http://schemas.openxmlformats.org/drawingml/2006/main">
            <a:srgbClr val="2ED9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CBD0FDA-0A64-43A4-B0FB-D626325B9670}"/>
              </a:ext>
            </a:extLst>
          </p:cNvPr>
          <p:cNvSpPr>
            <a:spLocks xmlns:a="http://schemas.openxmlformats.org/drawingml/2006/main" noGrp="1"/>
          </p:cNvSpPr>
          <p:nvPr/>
        </p:nvSpPr>
        <p:spPr>
          <a:xfrm xmlns:a="http://schemas.openxmlformats.org/drawingml/2006/main">
            <a:off x="2305050" y="23622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complete, fresh data with valid Greeks</a:t>
            </a:r>
          </a:p>
        </p:txBody>
      </p:sp>
      <p:sp>
        <p:nvSpPr>
          <p:cNvPr id="9" name="">
            <a:extLst xmlns:a="http://schemas.openxmlformats.org/drawingml/2006/main">
              <a:ext uri="{FF2B5EF4-FFF2-40B4-BE49-F238E27FC236}">
                <a16:creationId xmlns:a16="http://schemas.microsoft.com/office/drawing/2014/main" id="{2A05F211-1634-4D28-A50C-372C3857CAB6}"/>
              </a:ext>
            </a:extLst>
          </p:cNvPr>
          <p:cNvSpPr>
            <a:spLocks xmlns:a="http://schemas.openxmlformats.org/drawingml/2006/main" noGrp="1"/>
          </p:cNvSpPr>
          <p:nvPr/>
        </p:nvSpPr>
        <p:spPr>
          <a:xfrm xmlns:a="http://schemas.openxmlformats.org/drawingml/2006/main">
            <a:off x="781050" y="3028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2ED9FF"/>
                </a:solidFill>
              </a:defRPr>
            </a:pPr>
            <a:r>
              <a:rPr sz="1275" b="1">
                <a:solidFill>
                  <a:srgbClr val="2ED9FF"/>
                </a:solidFill>
              </a:rPr>
              <a:t>03</a:t>
            </a:r>
          </a:p>
        </p:txBody>
      </p:sp>
      <p:sp>
        <p:nvSpPr>
          <p:cNvPr id="10" name="">
            <a:extLst xmlns:a="http://schemas.openxmlformats.org/drawingml/2006/main">
              <a:ext uri="{FF2B5EF4-FFF2-40B4-BE49-F238E27FC236}">
                <a16:creationId xmlns:a16="http://schemas.microsoft.com/office/drawing/2014/main" id="{218BA505-BACC-4B4B-ACBC-97739F8D3329}"/>
              </a:ext>
            </a:extLst>
          </p:cNvPr>
          <p:cNvSpPr>
            <a:spLocks xmlns:a="http://schemas.openxmlformats.org/drawingml/2006/main" noGrp="1"/>
          </p:cNvSpPr>
          <p:nvPr/>
        </p:nvSpPr>
        <p:spPr>
          <a:xfrm xmlns:a="http://schemas.openxmlformats.org/drawingml/2006/main">
            <a:off x="1371600" y="3143250"/>
            <a:ext cx="685800" cy="19050"/>
          </a:xfrm>
          <a:prstGeom xmlns:a="http://schemas.openxmlformats.org/drawingml/2006/main" prst="rect">
            <a:avLst/>
          </a:prstGeom>
          <a:solidFill xmlns:a="http://schemas.openxmlformats.org/drawingml/2006/main">
            <a:srgbClr val="2ED9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B67D6B5-C6B9-4CF3-84D9-9316582F86EE}"/>
              </a:ext>
            </a:extLst>
          </p:cNvPr>
          <p:cNvSpPr>
            <a:spLocks xmlns:a="http://schemas.openxmlformats.org/drawingml/2006/main" noGrp="1"/>
          </p:cNvSpPr>
          <p:nvPr/>
        </p:nvSpPr>
        <p:spPr>
          <a:xfrm xmlns:a="http://schemas.openxmlformats.org/drawingml/2006/main">
            <a:off x="2305050" y="29908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10:20–14:30 ET; one attempt per day</a:t>
            </a:r>
          </a:p>
        </p:txBody>
      </p:sp>
      <p:sp>
        <p:nvSpPr>
          <p:cNvPr id="12" name="">
            <a:extLst xmlns:a="http://schemas.openxmlformats.org/drawingml/2006/main">
              <a:ext uri="{FF2B5EF4-FFF2-40B4-BE49-F238E27FC236}">
                <a16:creationId xmlns:a16="http://schemas.microsoft.com/office/drawing/2014/main" id="{57003996-2DBE-4B2A-8A25-2EFF44C7CFB4}"/>
              </a:ext>
            </a:extLst>
          </p:cNvPr>
          <p:cNvSpPr>
            <a:spLocks xmlns:a="http://schemas.openxmlformats.org/drawingml/2006/main" noGrp="1"/>
          </p:cNvSpPr>
          <p:nvPr/>
        </p:nvSpPr>
        <p:spPr>
          <a:xfrm xmlns:a="http://schemas.openxmlformats.org/drawingml/2006/main">
            <a:off x="781050" y="36576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5B95C"/>
                </a:solidFill>
              </a:defRPr>
            </a:pPr>
            <a:r>
              <a:rPr sz="1275" b="1">
                <a:solidFill>
                  <a:srgbClr val="E5B95C"/>
                </a:solidFill>
              </a:rPr>
              <a:t>04</a:t>
            </a:r>
          </a:p>
        </p:txBody>
      </p:sp>
      <p:sp>
        <p:nvSpPr>
          <p:cNvPr id="13" name="">
            <a:extLst xmlns:a="http://schemas.openxmlformats.org/drawingml/2006/main">
              <a:ext uri="{FF2B5EF4-FFF2-40B4-BE49-F238E27FC236}">
                <a16:creationId xmlns:a16="http://schemas.microsoft.com/office/drawing/2014/main" id="{F92216F3-AB6D-4740-84C5-89B455631E57}"/>
              </a:ext>
            </a:extLst>
          </p:cNvPr>
          <p:cNvSpPr>
            <a:spLocks xmlns:a="http://schemas.openxmlformats.org/drawingml/2006/main" noGrp="1"/>
          </p:cNvSpPr>
          <p:nvPr/>
        </p:nvSpPr>
        <p:spPr>
          <a:xfrm xmlns:a="http://schemas.openxmlformats.org/drawingml/2006/main">
            <a:off x="1371600" y="3771900"/>
            <a:ext cx="685800" cy="19050"/>
          </a:xfrm>
          <a:prstGeom xmlns:a="http://schemas.openxmlformats.org/drawingml/2006/main" prst="rect">
            <a:avLst/>
          </a:prstGeom>
          <a:solidFill xmlns:a="http://schemas.openxmlformats.org/drawingml/2006/main">
            <a:srgbClr val="E5B9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5B55A0-86A5-463B-83AA-6BD73DA81C55}"/>
              </a:ext>
            </a:extLst>
          </p:cNvPr>
          <p:cNvSpPr>
            <a:spLocks xmlns:a="http://schemas.openxmlformats.org/drawingml/2006/main" noGrp="1"/>
          </p:cNvSpPr>
          <p:nvPr/>
        </p:nvSpPr>
        <p:spPr>
          <a:xfrm xmlns:a="http://schemas.openxmlformats.org/drawingml/2006/main">
            <a:off x="2305050" y="3619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$250 plan / $500 day / $1k total loss caps</a:t>
            </a:r>
          </a:p>
        </p:txBody>
      </p:sp>
      <p:sp>
        <p:nvSpPr>
          <p:cNvPr id="15" name="">
            <a:extLst xmlns:a="http://schemas.openxmlformats.org/drawingml/2006/main">
              <a:ext uri="{FF2B5EF4-FFF2-40B4-BE49-F238E27FC236}">
                <a16:creationId xmlns:a16="http://schemas.microsoft.com/office/drawing/2014/main" id="{37C409C6-BFE0-4031-9E5F-9E0CBE4A688F}"/>
              </a:ext>
            </a:extLst>
          </p:cNvPr>
          <p:cNvSpPr>
            <a:spLocks xmlns:a="http://schemas.openxmlformats.org/drawingml/2006/main" noGrp="1"/>
          </p:cNvSpPr>
          <p:nvPr/>
        </p:nvSpPr>
        <p:spPr>
          <a:xfrm xmlns:a="http://schemas.openxmlformats.org/drawingml/2006/main">
            <a:off x="781050" y="42862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5B95C"/>
                </a:solidFill>
              </a:defRPr>
            </a:pPr>
            <a:r>
              <a:rPr sz="1275" b="1">
                <a:solidFill>
                  <a:srgbClr val="E5B95C"/>
                </a:solidFill>
              </a:rPr>
              <a:t>05</a:t>
            </a:r>
          </a:p>
        </p:txBody>
      </p:sp>
      <p:sp>
        <p:nvSpPr>
          <p:cNvPr id="16" name="">
            <a:extLst xmlns:a="http://schemas.openxmlformats.org/drawingml/2006/main">
              <a:ext uri="{FF2B5EF4-FFF2-40B4-BE49-F238E27FC236}">
                <a16:creationId xmlns:a16="http://schemas.microsoft.com/office/drawing/2014/main" id="{ED8D280F-821A-462C-A04E-6DE5C44AA787}"/>
              </a:ext>
            </a:extLst>
          </p:cNvPr>
          <p:cNvSpPr>
            <a:spLocks xmlns:a="http://schemas.openxmlformats.org/drawingml/2006/main" noGrp="1"/>
          </p:cNvSpPr>
          <p:nvPr/>
        </p:nvSpPr>
        <p:spPr>
          <a:xfrm xmlns:a="http://schemas.openxmlformats.org/drawingml/2006/main">
            <a:off x="1371600" y="4400550"/>
            <a:ext cx="685800" cy="19050"/>
          </a:xfrm>
          <a:prstGeom xmlns:a="http://schemas.openxmlformats.org/drawingml/2006/main" prst="rect">
            <a:avLst/>
          </a:prstGeom>
          <a:solidFill xmlns:a="http://schemas.openxmlformats.org/drawingml/2006/main">
            <a:srgbClr val="E5B95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4BE9A6-1143-433D-88F9-2BC1E5B0E63D}"/>
              </a:ext>
            </a:extLst>
          </p:cNvPr>
          <p:cNvSpPr>
            <a:spLocks xmlns:a="http://schemas.openxmlformats.org/drawingml/2006/main" noGrp="1"/>
          </p:cNvSpPr>
          <p:nvPr/>
        </p:nvSpPr>
        <p:spPr>
          <a:xfrm xmlns:a="http://schemas.openxmlformats.org/drawingml/2006/main">
            <a:off x="2305050" y="42481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45-minute hold; +25% / −20% exit triggers</a:t>
            </a:r>
          </a:p>
        </p:txBody>
      </p:sp>
      <p:sp>
        <p:nvSpPr>
          <p:cNvPr id="18" name="">
            <a:extLst xmlns:a="http://schemas.openxmlformats.org/drawingml/2006/main">
              <a:ext uri="{FF2B5EF4-FFF2-40B4-BE49-F238E27FC236}">
                <a16:creationId xmlns:a16="http://schemas.microsoft.com/office/drawing/2014/main" id="{C400BA9D-D252-4973-8D44-0DE17AE5C6A7}"/>
              </a:ext>
            </a:extLst>
          </p:cNvPr>
          <p:cNvSpPr>
            <a:spLocks xmlns:a="http://schemas.openxmlformats.org/drawingml/2006/main" noGrp="1"/>
          </p:cNvSpPr>
          <p:nvPr/>
        </p:nvSpPr>
        <p:spPr>
          <a:xfrm xmlns:a="http://schemas.openxmlformats.org/drawingml/2006/main">
            <a:off x="781050" y="49149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E5B95C"/>
                </a:solidFill>
              </a:defRPr>
            </a:pPr>
            <a:r>
              <a:rPr sz="1275" b="1">
                <a:solidFill>
                  <a:srgbClr val="E5B95C"/>
                </a:solidFill>
              </a:rPr>
              <a:t>06</a:t>
            </a:r>
          </a:p>
        </p:txBody>
      </p:sp>
      <p:sp>
        <p:nvSpPr>
          <p:cNvPr id="19" name="">
            <a:extLst xmlns:a="http://schemas.openxmlformats.org/drawingml/2006/main">
              <a:ext uri="{FF2B5EF4-FFF2-40B4-BE49-F238E27FC236}">
                <a16:creationId xmlns:a16="http://schemas.microsoft.com/office/drawing/2014/main" id="{D96B53FE-1323-4B5A-B353-068005720589}"/>
              </a:ext>
            </a:extLst>
          </p:cNvPr>
          <p:cNvSpPr>
            <a:spLocks xmlns:a="http://schemas.openxmlformats.org/drawingml/2006/main" noGrp="1"/>
          </p:cNvSpPr>
          <p:nvPr/>
        </p:nvSpPr>
        <p:spPr>
          <a:xfrm xmlns:a="http://schemas.openxmlformats.org/drawingml/2006/main">
            <a:off x="1371600" y="5029200"/>
            <a:ext cx="685800" cy="19050"/>
          </a:xfrm>
          <a:prstGeom xmlns:a="http://schemas.openxmlformats.org/drawingml/2006/main" prst="rect">
            <a:avLst/>
          </a:prstGeom>
          <a:solidFill xmlns:a="http://schemas.openxmlformats.org/drawingml/2006/main">
            <a:srgbClr val="E5B95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24C3399-2AFA-49FD-8A3B-3B0BD918A9BC}"/>
              </a:ext>
            </a:extLst>
          </p:cNvPr>
          <p:cNvSpPr>
            <a:spLocks xmlns:a="http://schemas.openxmlformats.org/drawingml/2006/main" noGrp="1"/>
          </p:cNvSpPr>
          <p:nvPr/>
        </p:nvSpPr>
        <p:spPr>
          <a:xfrm xmlns:a="http://schemas.openxmlformats.org/drawingml/2006/main">
            <a:off x="2305050" y="48768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F5F7FA"/>
                </a:solidFill>
              </a:defRPr>
            </a:pPr>
            <a:r>
              <a:rPr sz="1650" b="1">
                <a:solidFill>
                  <a:srgbClr val="F5F7FA"/>
                </a:solidFill>
              </a:rPr>
              <a:t>Thu 15:45 ET flat; EOD Thursday equity scored</a:t>
            </a:r>
          </a:p>
        </p:txBody>
      </p:sp>
      <p:sp>
        <p:nvSpPr>
          <p:cNvPr id="21" name="">
            <a:extLst xmlns:a="http://schemas.openxmlformats.org/drawingml/2006/main">
              <a:ext uri="{FF2B5EF4-FFF2-40B4-BE49-F238E27FC236}">
                <a16:creationId xmlns:a16="http://schemas.microsoft.com/office/drawing/2014/main" id="{2B21330C-1269-4232-994E-7ADD0DE5D05F}"/>
              </a:ext>
            </a:extLst>
          </p:cNvPr>
          <p:cNvSpPr>
            <a:spLocks xmlns:a="http://schemas.openxmlformats.org/drawingml/2006/main" noGrp="1"/>
          </p:cNvSpPr>
          <p:nvPr/>
        </p:nvSpPr>
        <p:spPr>
          <a:xfrm xmlns:a="http://schemas.openxmlformats.org/drawingml/2006/main">
            <a:off x="8420100" y="2038350"/>
            <a:ext cx="2762250" cy="2552700"/>
          </a:xfrm>
          <a:prstGeom xmlns:a="http://schemas.openxmlformats.org/drawingml/2006/main" prst="roundRect">
            <a:avLst>
              <a:gd name="adj" fmla="val 2985"/>
            </a:avLst>
          </a:prstGeom>
          <a:solidFill xmlns:a="http://schemas.openxmlformats.org/drawingml/2006/main">
            <a:srgbClr val="0B2235"/>
          </a:solidFill>
          <a:ln xmlns:a="http://schemas.openxmlformats.org/drawingml/2006/main" w="9525">
            <a:solidFill>
              <a:srgbClr val="E5B95C"/>
            </a:solidFill>
            <a:prstDash val="solid"/>
          </a:ln>
        </p:spPr>
      </p:sp>
      <p:sp>
        <p:nvSpPr>
          <p:cNvPr id="22" name="">
            <a:extLst xmlns:a="http://schemas.openxmlformats.org/drawingml/2006/main">
              <a:ext uri="{FF2B5EF4-FFF2-40B4-BE49-F238E27FC236}">
                <a16:creationId xmlns:a16="http://schemas.microsoft.com/office/drawing/2014/main" id="{FC644F49-E348-44F0-91C1-AF7E42BA5E3B}"/>
              </a:ext>
            </a:extLst>
          </p:cNvPr>
          <p:cNvSpPr>
            <a:spLocks xmlns:a="http://schemas.openxmlformats.org/drawingml/2006/main" noGrp="1"/>
          </p:cNvSpPr>
          <p:nvPr/>
        </p:nvSpPr>
        <p:spPr>
          <a:xfrm xmlns:a="http://schemas.openxmlformats.org/drawingml/2006/main">
            <a:off x="8782050" y="241935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ED9FF"/>
                </a:solidFill>
              </a:defRPr>
            </a:pPr>
            <a:r>
              <a:rPr sz="2250" b="1">
                <a:solidFill>
                  <a:srgbClr val="2ED9FF"/>
                </a:solidFill>
              </a:rPr>
              <a:t>MODEL</a:t>
            </a:r>
          </a:p>
        </p:txBody>
      </p:sp>
      <p:sp>
        <p:nvSpPr>
          <p:cNvPr id="23" name="">
            <a:extLst xmlns:a="http://schemas.openxmlformats.org/drawingml/2006/main">
              <a:ext uri="{FF2B5EF4-FFF2-40B4-BE49-F238E27FC236}">
                <a16:creationId xmlns:a16="http://schemas.microsoft.com/office/drawing/2014/main" id="{57DDB216-5265-4D87-91D8-CAD272156ABD}"/>
              </a:ext>
            </a:extLst>
          </p:cNvPr>
          <p:cNvSpPr>
            <a:spLocks xmlns:a="http://schemas.openxmlformats.org/drawingml/2006/main" noGrp="1"/>
          </p:cNvSpPr>
          <p:nvPr/>
        </p:nvSpPr>
        <p:spPr>
          <a:xfrm xmlns:a="http://schemas.openxmlformats.org/drawingml/2006/main">
            <a:off x="8782050" y="29146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9FB2C2"/>
                </a:solidFill>
              </a:defRPr>
            </a:pPr>
            <a:r>
              <a:rPr sz="1500" b="0">
                <a:solidFill>
                  <a:srgbClr val="9FB2C2"/>
                </a:solidFill>
              </a:rPr>
              <a:t>veto only</a:t>
            </a:r>
          </a:p>
        </p:txBody>
      </p:sp>
      <p:sp>
        <p:nvSpPr>
          <p:cNvPr id="24" name="">
            <a:extLst xmlns:a="http://schemas.openxmlformats.org/drawingml/2006/main">
              <a:ext uri="{FF2B5EF4-FFF2-40B4-BE49-F238E27FC236}">
                <a16:creationId xmlns:a16="http://schemas.microsoft.com/office/drawing/2014/main" id="{CEEB95C3-6BAE-4D24-87CF-784E93C3CA91}"/>
              </a:ext>
            </a:extLst>
          </p:cNvPr>
          <p:cNvSpPr>
            <a:spLocks xmlns:a="http://schemas.openxmlformats.org/drawingml/2006/main" noGrp="1"/>
          </p:cNvSpPr>
          <p:nvPr/>
        </p:nvSpPr>
        <p:spPr>
          <a:xfrm xmlns:a="http://schemas.openxmlformats.org/drawingml/2006/main">
            <a:off x="8839200" y="3505200"/>
            <a:ext cx="1924050" cy="19050"/>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25" name="">
            <a:extLst xmlns:a="http://schemas.openxmlformats.org/drawingml/2006/main">
              <a:ext uri="{FF2B5EF4-FFF2-40B4-BE49-F238E27FC236}">
                <a16:creationId xmlns:a16="http://schemas.microsoft.com/office/drawing/2014/main" id="{8ECC263D-5E20-4871-8EDB-EE7373F1285A}"/>
              </a:ext>
            </a:extLst>
          </p:cNvPr>
          <p:cNvSpPr>
            <a:spLocks xmlns:a="http://schemas.openxmlformats.org/drawingml/2006/main" noGrp="1"/>
          </p:cNvSpPr>
          <p:nvPr/>
        </p:nvSpPr>
        <p:spPr>
          <a:xfrm xmlns:a="http://schemas.openxmlformats.org/drawingml/2006/main">
            <a:off x="8782050" y="375285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5B95C"/>
                </a:solidFill>
              </a:defRPr>
            </a:pPr>
            <a:r>
              <a:rPr sz="2250" b="1">
                <a:solidFill>
                  <a:srgbClr val="E5B95C"/>
                </a:solidFill>
              </a:rPr>
              <a:t>POLICY</a:t>
            </a:r>
          </a:p>
        </p:txBody>
      </p:sp>
      <p:sp>
        <p:nvSpPr>
          <p:cNvPr id="26" name="">
            <a:extLst xmlns:a="http://schemas.openxmlformats.org/drawingml/2006/main">
              <a:ext uri="{FF2B5EF4-FFF2-40B4-BE49-F238E27FC236}">
                <a16:creationId xmlns:a16="http://schemas.microsoft.com/office/drawing/2014/main" id="{F6484EAE-1E63-49EB-91E8-98EB58A07F35}"/>
              </a:ext>
            </a:extLst>
          </p:cNvPr>
          <p:cNvSpPr>
            <a:spLocks xmlns:a="http://schemas.openxmlformats.org/drawingml/2006/main" noGrp="1"/>
          </p:cNvSpPr>
          <p:nvPr/>
        </p:nvSpPr>
        <p:spPr>
          <a:xfrm xmlns:a="http://schemas.openxmlformats.org/drawingml/2006/main">
            <a:off x="8782050" y="42100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F5F7FA"/>
                </a:solidFill>
              </a:defRPr>
            </a:pPr>
            <a:r>
              <a:rPr sz="1500" b="0">
                <a:solidFill>
                  <a:srgbClr val="F5F7FA"/>
                </a:solidFill>
              </a:rPr>
              <a:t>execution authority</a:t>
            </a:r>
          </a:p>
        </p:txBody>
      </p:sp>
      <p:sp>
        <p:nvSpPr>
          <p:cNvPr id="27" name="">
            <a:extLst xmlns:a="http://schemas.openxmlformats.org/drawingml/2006/main">
              <a:ext uri="{FF2B5EF4-FFF2-40B4-BE49-F238E27FC236}">
                <a16:creationId xmlns:a16="http://schemas.microsoft.com/office/drawing/2014/main" id="{D58C00C8-96D1-4F22-9379-48D99184F2EE}"/>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28" name="">
            <a:extLst xmlns:a="http://schemas.openxmlformats.org/drawingml/2006/main">
              <a:ext uri="{FF2B5EF4-FFF2-40B4-BE49-F238E27FC236}">
                <a16:creationId xmlns:a16="http://schemas.microsoft.com/office/drawing/2014/main" id="{7B9B4B73-1379-4475-AC84-C6A0D7899C5E}"/>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29" name="">
            <a:extLst xmlns:a="http://schemas.openxmlformats.org/drawingml/2006/main">
              <a:ext uri="{FF2B5EF4-FFF2-40B4-BE49-F238E27FC236}">
                <a16:creationId xmlns:a16="http://schemas.microsoft.com/office/drawing/2014/main" id="{9027BFAD-A795-49C2-8013-5BEF2275C66D}"/>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06</a:t>
            </a:r>
          </a:p>
        </p:txBody>
      </p:sp>
    </p:spTree>
    <p:extLst>
      <p:ext uri="{BB962C8B-B14F-4D97-AF65-F5344CB8AC3E}">
        <p14:creationId xmlns:p14="http://schemas.microsoft.com/office/powerpoint/2010/main" val="1514660649"/>
      </p:ext>
    </p:extLst>
  </p:cSld>
</p:sld>
</file>

<file path=ppt/slides/slide7.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4B12323-4BE0-4880-BD44-4A91414C6A62}"/>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EVALUATION HONESTY</a:t>
            </a:r>
          </a:p>
        </p:txBody>
      </p:sp>
      <p:sp>
        <p:nvSpPr>
          <p:cNvPr id="2" name="">
            <a:extLst xmlns:a="http://schemas.openxmlformats.org/drawingml/2006/main">
              <a:ext uri="{FF2B5EF4-FFF2-40B4-BE49-F238E27FC236}">
                <a16:creationId xmlns:a16="http://schemas.microsoft.com/office/drawing/2014/main" id="{EEF0C1E5-9A43-4550-83DE-C0551BB1B163}"/>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The evidence ceiling is visible, not buried</a:t>
            </a:r>
          </a:p>
        </p:txBody>
      </p:sp>
      <p:sp>
        <p:nvSpPr>
          <p:cNvPr id="3" name="">
            <a:extLst xmlns:a="http://schemas.openxmlformats.org/drawingml/2006/main">
              <a:ext uri="{FF2B5EF4-FFF2-40B4-BE49-F238E27FC236}">
                <a16:creationId xmlns:a16="http://schemas.microsoft.com/office/drawing/2014/main" id="{3A68C478-EC63-4741-B17D-AA30310A5C83}"/>
              </a:ext>
            </a:extLst>
          </p:cNvPr>
          <p:cNvSpPr>
            <a:spLocks xmlns:a="http://schemas.openxmlformats.org/drawingml/2006/main" noGrp="1"/>
          </p:cNvSpPr>
          <p:nvPr/>
        </p:nvSpPr>
        <p:spPr>
          <a:xfrm xmlns:a="http://schemas.openxmlformats.org/drawingml/2006/main">
            <a:off x="876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4" name="">
            <a:extLst xmlns:a="http://schemas.openxmlformats.org/drawingml/2006/main">
              <a:ext uri="{FF2B5EF4-FFF2-40B4-BE49-F238E27FC236}">
                <a16:creationId xmlns:a16="http://schemas.microsoft.com/office/drawing/2014/main" id="{1DD2B1A0-3B32-4FA1-B01F-A0ADFF958AD6}"/>
              </a:ext>
            </a:extLst>
          </p:cNvPr>
          <p:cNvSpPr>
            <a:spLocks xmlns:a="http://schemas.openxmlformats.org/drawingml/2006/main" noGrp="1"/>
          </p:cNvSpPr>
          <p:nvPr/>
        </p:nvSpPr>
        <p:spPr>
          <a:xfrm xmlns:a="http://schemas.openxmlformats.org/drawingml/2006/main">
            <a:off x="876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C0</a:t>
            </a:r>
          </a:p>
        </p:txBody>
      </p:sp>
      <p:sp>
        <p:nvSpPr>
          <p:cNvPr id="5" name="">
            <a:extLst xmlns:a="http://schemas.openxmlformats.org/drawingml/2006/main">
              <a:ext uri="{FF2B5EF4-FFF2-40B4-BE49-F238E27FC236}">
                <a16:creationId xmlns:a16="http://schemas.microsoft.com/office/drawing/2014/main" id="{4266BAA7-A68C-49D9-A2E7-64D2A6B43AD2}"/>
              </a:ext>
            </a:extLst>
          </p:cNvPr>
          <p:cNvSpPr>
            <a:spLocks xmlns:a="http://schemas.openxmlformats.org/drawingml/2006/main" noGrp="1"/>
          </p:cNvSpPr>
          <p:nvPr/>
        </p:nvSpPr>
        <p:spPr>
          <a:xfrm xmlns:a="http://schemas.openxmlformats.org/drawingml/2006/main">
            <a:off x="2400300" y="2076450"/>
            <a:ext cx="1352550" cy="819150"/>
          </a:xfrm>
          <a:prstGeom xmlns:a="http://schemas.openxmlformats.org/drawingml/2006/main" prst="roundRect">
            <a:avLst>
              <a:gd name="adj" fmla="val 9302"/>
            </a:avLst>
          </a:prstGeom>
          <a:solidFill xmlns:a="http://schemas.openxmlformats.org/drawingml/2006/main">
            <a:srgbClr val="2ED9FF"/>
          </a:solidFill>
          <a:ln xmlns:a="http://schemas.openxmlformats.org/drawingml/2006/main" w="9525">
            <a:solidFill>
              <a:srgbClr val="2ED9FF"/>
            </a:solidFill>
            <a:prstDash val="solid"/>
          </a:ln>
        </p:spPr>
      </p:sp>
      <p:sp>
        <p:nvSpPr>
          <p:cNvPr id="6" name="">
            <a:extLst xmlns:a="http://schemas.openxmlformats.org/drawingml/2006/main">
              <a:ext uri="{FF2B5EF4-FFF2-40B4-BE49-F238E27FC236}">
                <a16:creationId xmlns:a16="http://schemas.microsoft.com/office/drawing/2014/main" id="{87087764-5695-4DFB-ACDB-FB5486D3CEA6}"/>
              </a:ext>
            </a:extLst>
          </p:cNvPr>
          <p:cNvSpPr>
            <a:spLocks xmlns:a="http://schemas.openxmlformats.org/drawingml/2006/main" noGrp="1"/>
          </p:cNvSpPr>
          <p:nvPr/>
        </p:nvSpPr>
        <p:spPr>
          <a:xfrm xmlns:a="http://schemas.openxmlformats.org/drawingml/2006/main">
            <a:off x="2400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61321"/>
                </a:solidFill>
              </a:defRPr>
            </a:pPr>
            <a:r>
              <a:rPr sz="2250" b="1">
                <a:solidFill>
                  <a:srgbClr val="061321"/>
                </a:solidFill>
              </a:rPr>
              <a:t>C1</a:t>
            </a:r>
          </a:p>
        </p:txBody>
      </p:sp>
      <p:sp>
        <p:nvSpPr>
          <p:cNvPr id="7" name="">
            <a:extLst xmlns:a="http://schemas.openxmlformats.org/drawingml/2006/main">
              <a:ext uri="{FF2B5EF4-FFF2-40B4-BE49-F238E27FC236}">
                <a16:creationId xmlns:a16="http://schemas.microsoft.com/office/drawing/2014/main" id="{43EE28A2-C42E-47A5-884A-855D5D7D44B0}"/>
              </a:ext>
            </a:extLst>
          </p:cNvPr>
          <p:cNvSpPr>
            <a:spLocks xmlns:a="http://schemas.openxmlformats.org/drawingml/2006/main" noGrp="1"/>
          </p:cNvSpPr>
          <p:nvPr/>
        </p:nvSpPr>
        <p:spPr>
          <a:xfrm xmlns:a="http://schemas.openxmlformats.org/drawingml/2006/main">
            <a:off x="3924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8" name="">
            <a:extLst xmlns:a="http://schemas.openxmlformats.org/drawingml/2006/main">
              <a:ext uri="{FF2B5EF4-FFF2-40B4-BE49-F238E27FC236}">
                <a16:creationId xmlns:a16="http://schemas.microsoft.com/office/drawing/2014/main" id="{9061D56D-9CED-4DD1-992A-350A861E6B81}"/>
              </a:ext>
            </a:extLst>
          </p:cNvPr>
          <p:cNvSpPr>
            <a:spLocks xmlns:a="http://schemas.openxmlformats.org/drawingml/2006/main" noGrp="1"/>
          </p:cNvSpPr>
          <p:nvPr/>
        </p:nvSpPr>
        <p:spPr>
          <a:xfrm xmlns:a="http://schemas.openxmlformats.org/drawingml/2006/main">
            <a:off x="3924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C2</a:t>
            </a:r>
          </a:p>
        </p:txBody>
      </p:sp>
      <p:sp>
        <p:nvSpPr>
          <p:cNvPr id="9" name="">
            <a:extLst xmlns:a="http://schemas.openxmlformats.org/drawingml/2006/main">
              <a:ext uri="{FF2B5EF4-FFF2-40B4-BE49-F238E27FC236}">
                <a16:creationId xmlns:a16="http://schemas.microsoft.com/office/drawing/2014/main" id="{BA83EBAB-031C-4B97-8FF6-DF7073A4F3BC}"/>
              </a:ext>
            </a:extLst>
          </p:cNvPr>
          <p:cNvSpPr>
            <a:spLocks xmlns:a="http://schemas.openxmlformats.org/drawingml/2006/main" noGrp="1"/>
          </p:cNvSpPr>
          <p:nvPr/>
        </p:nvSpPr>
        <p:spPr>
          <a:xfrm xmlns:a="http://schemas.openxmlformats.org/drawingml/2006/main">
            <a:off x="5448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10" name="">
            <a:extLst xmlns:a="http://schemas.openxmlformats.org/drawingml/2006/main">
              <a:ext uri="{FF2B5EF4-FFF2-40B4-BE49-F238E27FC236}">
                <a16:creationId xmlns:a16="http://schemas.microsoft.com/office/drawing/2014/main" id="{AFBE1C0D-E306-47AD-872D-D294A8CEE72F}"/>
              </a:ext>
            </a:extLst>
          </p:cNvPr>
          <p:cNvSpPr>
            <a:spLocks xmlns:a="http://schemas.openxmlformats.org/drawingml/2006/main" noGrp="1"/>
          </p:cNvSpPr>
          <p:nvPr/>
        </p:nvSpPr>
        <p:spPr>
          <a:xfrm xmlns:a="http://schemas.openxmlformats.org/drawingml/2006/main">
            <a:off x="5448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C3</a:t>
            </a:r>
          </a:p>
        </p:txBody>
      </p:sp>
      <p:sp>
        <p:nvSpPr>
          <p:cNvPr id="11" name="">
            <a:extLst xmlns:a="http://schemas.openxmlformats.org/drawingml/2006/main">
              <a:ext uri="{FF2B5EF4-FFF2-40B4-BE49-F238E27FC236}">
                <a16:creationId xmlns:a16="http://schemas.microsoft.com/office/drawing/2014/main" id="{B55FDCBC-65CE-4A5B-988E-EB7553E30846}"/>
              </a:ext>
            </a:extLst>
          </p:cNvPr>
          <p:cNvSpPr>
            <a:spLocks xmlns:a="http://schemas.openxmlformats.org/drawingml/2006/main" noGrp="1"/>
          </p:cNvSpPr>
          <p:nvPr/>
        </p:nvSpPr>
        <p:spPr>
          <a:xfrm xmlns:a="http://schemas.openxmlformats.org/drawingml/2006/main">
            <a:off x="6972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12" name="">
            <a:extLst xmlns:a="http://schemas.openxmlformats.org/drawingml/2006/main">
              <a:ext uri="{FF2B5EF4-FFF2-40B4-BE49-F238E27FC236}">
                <a16:creationId xmlns:a16="http://schemas.microsoft.com/office/drawing/2014/main" id="{52BCE864-DFB5-4258-A084-CB84C46EE435}"/>
              </a:ext>
            </a:extLst>
          </p:cNvPr>
          <p:cNvSpPr>
            <a:spLocks xmlns:a="http://schemas.openxmlformats.org/drawingml/2006/main" noGrp="1"/>
          </p:cNvSpPr>
          <p:nvPr/>
        </p:nvSpPr>
        <p:spPr>
          <a:xfrm xmlns:a="http://schemas.openxmlformats.org/drawingml/2006/main">
            <a:off x="6972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C4</a:t>
            </a:r>
          </a:p>
        </p:txBody>
      </p:sp>
      <p:sp>
        <p:nvSpPr>
          <p:cNvPr id="13" name="">
            <a:extLst xmlns:a="http://schemas.openxmlformats.org/drawingml/2006/main">
              <a:ext uri="{FF2B5EF4-FFF2-40B4-BE49-F238E27FC236}">
                <a16:creationId xmlns:a16="http://schemas.microsoft.com/office/drawing/2014/main" id="{3B9656B3-E822-45B3-8327-5CAA3213C2C0}"/>
              </a:ext>
            </a:extLst>
          </p:cNvPr>
          <p:cNvSpPr>
            <a:spLocks xmlns:a="http://schemas.openxmlformats.org/drawingml/2006/main" noGrp="1"/>
          </p:cNvSpPr>
          <p:nvPr/>
        </p:nvSpPr>
        <p:spPr>
          <a:xfrm xmlns:a="http://schemas.openxmlformats.org/drawingml/2006/main">
            <a:off x="8496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14" name="">
            <a:extLst xmlns:a="http://schemas.openxmlformats.org/drawingml/2006/main">
              <a:ext uri="{FF2B5EF4-FFF2-40B4-BE49-F238E27FC236}">
                <a16:creationId xmlns:a16="http://schemas.microsoft.com/office/drawing/2014/main" id="{16B6E9E5-4E7C-4461-8B71-7569F6E18035}"/>
              </a:ext>
            </a:extLst>
          </p:cNvPr>
          <p:cNvSpPr>
            <a:spLocks xmlns:a="http://schemas.openxmlformats.org/drawingml/2006/main" noGrp="1"/>
          </p:cNvSpPr>
          <p:nvPr/>
        </p:nvSpPr>
        <p:spPr>
          <a:xfrm xmlns:a="http://schemas.openxmlformats.org/drawingml/2006/main">
            <a:off x="8496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C5</a:t>
            </a:r>
          </a:p>
        </p:txBody>
      </p:sp>
      <p:sp>
        <p:nvSpPr>
          <p:cNvPr id="15" name="">
            <a:extLst xmlns:a="http://schemas.openxmlformats.org/drawingml/2006/main">
              <a:ext uri="{FF2B5EF4-FFF2-40B4-BE49-F238E27FC236}">
                <a16:creationId xmlns:a16="http://schemas.microsoft.com/office/drawing/2014/main" id="{2CBF8904-E50B-48AA-A259-3D6E5BCCC9F5}"/>
              </a:ext>
            </a:extLst>
          </p:cNvPr>
          <p:cNvSpPr>
            <a:spLocks xmlns:a="http://schemas.openxmlformats.org/drawingml/2006/main" noGrp="1"/>
          </p:cNvSpPr>
          <p:nvPr/>
        </p:nvSpPr>
        <p:spPr>
          <a:xfrm xmlns:a="http://schemas.openxmlformats.org/drawingml/2006/main">
            <a:off x="10020300" y="2076450"/>
            <a:ext cx="1352550" cy="819150"/>
          </a:xfrm>
          <a:prstGeom xmlns:a="http://schemas.openxmlformats.org/drawingml/2006/main" prst="roundRect">
            <a:avLst>
              <a:gd name="adj" fmla="val 9302"/>
            </a:avLst>
          </a:prstGeom>
          <a:solidFill xmlns:a="http://schemas.openxmlformats.org/drawingml/2006/main">
            <a:srgbClr val="0B2235"/>
          </a:solidFill>
          <a:ln xmlns:a="http://schemas.openxmlformats.org/drawingml/2006/main" w="9525">
            <a:solidFill>
              <a:srgbClr val="274258"/>
            </a:solidFill>
            <a:prstDash val="solid"/>
          </a:ln>
        </p:spPr>
      </p:sp>
      <p:sp>
        <p:nvSpPr>
          <p:cNvPr id="16" name="">
            <a:extLst xmlns:a="http://schemas.openxmlformats.org/drawingml/2006/main">
              <a:ext uri="{FF2B5EF4-FFF2-40B4-BE49-F238E27FC236}">
                <a16:creationId xmlns:a16="http://schemas.microsoft.com/office/drawing/2014/main" id="{197B21D1-C724-4386-9461-FB5FFB85C0A7}"/>
              </a:ext>
            </a:extLst>
          </p:cNvPr>
          <p:cNvSpPr>
            <a:spLocks xmlns:a="http://schemas.openxmlformats.org/drawingml/2006/main" noGrp="1"/>
          </p:cNvSpPr>
          <p:nvPr/>
        </p:nvSpPr>
        <p:spPr>
          <a:xfrm xmlns:a="http://schemas.openxmlformats.org/drawingml/2006/main">
            <a:off x="10020300" y="224790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9FB2C2"/>
                </a:solidFill>
              </a:defRPr>
            </a:pPr>
            <a:r>
              <a:rPr sz="2250" b="1">
                <a:solidFill>
                  <a:srgbClr val="9FB2C2"/>
                </a:solidFill>
              </a:rPr>
              <a:t>C6</a:t>
            </a:r>
          </a:p>
        </p:txBody>
      </p:sp>
      <p:sp>
        <p:nvSpPr>
          <p:cNvPr id="17" name="">
            <a:extLst xmlns:a="http://schemas.openxmlformats.org/drawingml/2006/main">
              <a:ext uri="{FF2B5EF4-FFF2-40B4-BE49-F238E27FC236}">
                <a16:creationId xmlns:a16="http://schemas.microsoft.com/office/drawing/2014/main" id="{9590400D-76A4-4BCE-A828-B35BF587D15B}"/>
              </a:ext>
            </a:extLst>
          </p:cNvPr>
          <p:cNvSpPr>
            <a:spLocks xmlns:a="http://schemas.openxmlformats.org/drawingml/2006/main" noGrp="1"/>
          </p:cNvSpPr>
          <p:nvPr/>
        </p:nvSpPr>
        <p:spPr>
          <a:xfrm xmlns:a="http://schemas.openxmlformats.org/drawingml/2006/main">
            <a:off x="1657350" y="3371850"/>
            <a:ext cx="8877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ED9FF"/>
                </a:solidFill>
              </a:defRPr>
            </a:pPr>
            <a:r>
              <a:rPr sz="2100" b="1">
                <a:solidFill>
                  <a:srgbClr val="2ED9FF"/>
                </a:solidFill>
              </a:rPr>
              <a:t>C1 · mechanics on frozen synthetic + Alpaca-shaped inputs</a:t>
            </a:r>
          </a:p>
        </p:txBody>
      </p:sp>
      <p:sp>
        <p:nvSpPr>
          <p:cNvPr id="18" name="">
            <a:extLst xmlns:a="http://schemas.openxmlformats.org/drawingml/2006/main">
              <a:ext uri="{FF2B5EF4-FFF2-40B4-BE49-F238E27FC236}">
                <a16:creationId xmlns:a16="http://schemas.microsoft.com/office/drawing/2014/main" id="{35EC25C2-426C-465B-AB64-4946F6A46E3B}"/>
              </a:ext>
            </a:extLst>
          </p:cNvPr>
          <p:cNvSpPr>
            <a:spLocks xmlns:a="http://schemas.openxmlformats.org/drawingml/2006/main" noGrp="1"/>
          </p:cNvSpPr>
          <p:nvPr/>
        </p:nvSpPr>
        <p:spPr>
          <a:xfrm xmlns:a="http://schemas.openxmlformats.org/drawingml/2006/main">
            <a:off x="1981200" y="44386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F5F7FA"/>
                </a:solidFill>
              </a:defRPr>
            </a:pPr>
            <a:r>
              <a:rPr sz="2250" b="1">
                <a:solidFill>
                  <a:srgbClr val="F5F7FA"/>
                </a:solidFill>
              </a:rPr>
              <a:t>102 tests pass</a:t>
            </a:r>
          </a:p>
        </p:txBody>
      </p:sp>
      <p:sp>
        <p:nvSpPr>
          <p:cNvPr id="19" name="">
            <a:extLst xmlns:a="http://schemas.openxmlformats.org/drawingml/2006/main">
              <a:ext uri="{FF2B5EF4-FFF2-40B4-BE49-F238E27FC236}">
                <a16:creationId xmlns:a16="http://schemas.microsoft.com/office/drawing/2014/main" id="{16F15D0D-3A44-4EB1-896E-5BF5D1A76A88}"/>
              </a:ext>
            </a:extLst>
          </p:cNvPr>
          <p:cNvSpPr>
            <a:spLocks xmlns:a="http://schemas.openxmlformats.org/drawingml/2006/main" noGrp="1"/>
          </p:cNvSpPr>
          <p:nvPr/>
        </p:nvSpPr>
        <p:spPr>
          <a:xfrm xmlns:a="http://schemas.openxmlformats.org/drawingml/2006/main">
            <a:off x="5676900" y="4419600"/>
            <a:ext cx="83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E5B95C"/>
                </a:solidFill>
              </a:defRPr>
            </a:pPr>
            <a:r>
              <a:rPr sz="3000" b="1">
                <a:solidFill>
                  <a:srgbClr val="E5B95C"/>
                </a:solidFill>
              </a:rPr>
              <a:t>≠</a:t>
            </a:r>
          </a:p>
        </p:txBody>
      </p:sp>
      <p:sp>
        <p:nvSpPr>
          <p:cNvPr id="20" name="">
            <a:extLst xmlns:a="http://schemas.openxmlformats.org/drawingml/2006/main">
              <a:ext uri="{FF2B5EF4-FFF2-40B4-BE49-F238E27FC236}">
                <a16:creationId xmlns:a16="http://schemas.microsoft.com/office/drawing/2014/main" id="{261ABCFD-F803-4486-8AC0-DAB6460BB985}"/>
              </a:ext>
            </a:extLst>
          </p:cNvPr>
          <p:cNvSpPr>
            <a:spLocks xmlns:a="http://schemas.openxmlformats.org/drawingml/2006/main" noGrp="1"/>
          </p:cNvSpPr>
          <p:nvPr/>
        </p:nvSpPr>
        <p:spPr>
          <a:xfrm xmlns:a="http://schemas.openxmlformats.org/drawingml/2006/main">
            <a:off x="7524750" y="4438650"/>
            <a:ext cx="2724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5F7FA"/>
                </a:solidFill>
              </a:defRPr>
            </a:pPr>
            <a:r>
              <a:rPr sz="2100" b="1">
                <a:solidFill>
                  <a:srgbClr val="F5F7FA"/>
                </a:solidFill>
              </a:rPr>
              <a:t>options alpha proven</a:t>
            </a:r>
          </a:p>
        </p:txBody>
      </p:sp>
      <p:sp>
        <p:nvSpPr>
          <p:cNvPr id="21" name="">
            <a:extLst xmlns:a="http://schemas.openxmlformats.org/drawingml/2006/main">
              <a:ext uri="{FF2B5EF4-FFF2-40B4-BE49-F238E27FC236}">
                <a16:creationId xmlns:a16="http://schemas.microsoft.com/office/drawing/2014/main" id="{9F4F40F0-CCF7-4414-A94F-D2BD9E992103}"/>
              </a:ext>
            </a:extLst>
          </p:cNvPr>
          <p:cNvSpPr>
            <a:spLocks xmlns:a="http://schemas.openxmlformats.org/drawingml/2006/main" noGrp="1"/>
          </p:cNvSpPr>
          <p:nvPr/>
        </p:nvSpPr>
        <p:spPr>
          <a:xfrm xmlns:a="http://schemas.openxmlformats.org/drawingml/2006/main">
            <a:off x="2324100" y="5353050"/>
            <a:ext cx="7543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9FB2C2"/>
                </a:solidFill>
              </a:defRPr>
            </a:pPr>
            <a:r>
              <a:rPr sz="1425" b="0">
                <a:solidFill>
                  <a:srgbClr val="9FB2C2"/>
                </a:solidFill>
              </a:rPr>
              <a:t>No tested signal cleared its held-out promotion gate</a:t>
            </a:r>
          </a:p>
        </p:txBody>
      </p:sp>
      <p:sp>
        <p:nvSpPr>
          <p:cNvPr id="22" name="">
            <a:extLst xmlns:a="http://schemas.openxmlformats.org/drawingml/2006/main">
              <a:ext uri="{FF2B5EF4-FFF2-40B4-BE49-F238E27FC236}">
                <a16:creationId xmlns:a16="http://schemas.microsoft.com/office/drawing/2014/main" id="{59680D4E-A309-4B61-ADCB-BD51DD5BB75D}"/>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23" name="">
            <a:extLst xmlns:a="http://schemas.openxmlformats.org/drawingml/2006/main">
              <a:ext uri="{FF2B5EF4-FFF2-40B4-BE49-F238E27FC236}">
                <a16:creationId xmlns:a16="http://schemas.microsoft.com/office/drawing/2014/main" id="{531F11AD-E641-4592-BED6-F023161AA145}"/>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24" name="">
            <a:extLst xmlns:a="http://schemas.openxmlformats.org/drawingml/2006/main">
              <a:ext uri="{FF2B5EF4-FFF2-40B4-BE49-F238E27FC236}">
                <a16:creationId xmlns:a16="http://schemas.microsoft.com/office/drawing/2014/main" id="{1F5D4CAE-0A5F-4F6F-9DC6-937DBCAA1EA1}"/>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07</a:t>
            </a:r>
          </a:p>
        </p:txBody>
      </p:sp>
    </p:spTree>
    <p:extLst>
      <p:ext uri="{BB962C8B-B14F-4D97-AF65-F5344CB8AC3E}">
        <p14:creationId xmlns:p14="http://schemas.microsoft.com/office/powerpoint/2010/main" val="1797332002"/>
      </p:ext>
    </p:extLst>
  </p:cSld>
</p:sld>
</file>

<file path=ppt/slides/slide8.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EE1350E-66FB-414D-96DC-26D9F6F09898}"/>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INCIDENT • AUGUST 31</a:t>
            </a:r>
          </a:p>
        </p:txBody>
      </p:sp>
      <p:sp>
        <p:nvSpPr>
          <p:cNvPr id="2" name="">
            <a:extLst xmlns:a="http://schemas.openxmlformats.org/drawingml/2006/main">
              <a:ext uri="{FF2B5EF4-FFF2-40B4-BE49-F238E27FC236}">
                <a16:creationId xmlns:a16="http://schemas.microsoft.com/office/drawing/2014/main" id="{E919D599-BE2C-421F-8C93-9D961DFFB85F}"/>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An incomplete catalog stopped new entries</a:t>
            </a:r>
          </a:p>
        </p:txBody>
      </p:sp>
      <p:sp>
        <p:nvSpPr>
          <p:cNvPr id="3" name="">
            <a:extLst xmlns:a="http://schemas.openxmlformats.org/drawingml/2006/main">
              <a:ext uri="{FF2B5EF4-FFF2-40B4-BE49-F238E27FC236}">
                <a16:creationId xmlns:a16="http://schemas.microsoft.com/office/drawing/2014/main" id="{1FD224A0-AB69-40BA-9FBB-355EA6F25387}"/>
              </a:ext>
            </a:extLst>
          </p:cNvPr>
          <p:cNvSpPr>
            <a:spLocks xmlns:a="http://schemas.openxmlformats.org/drawingml/2006/main" noGrp="1"/>
          </p:cNvSpPr>
          <p:nvPr/>
        </p:nvSpPr>
        <p:spPr>
          <a:xfrm xmlns:a="http://schemas.openxmlformats.org/drawingml/2006/main">
            <a:off x="685800" y="1790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E5B95C"/>
                </a:solidFill>
              </a:defRPr>
            </a:pPr>
            <a:r>
              <a:rPr sz="1125" b="1">
                <a:solidFill>
                  <a:srgbClr val="E5B95C"/>
                </a:solidFill>
              </a:rPr>
              <a:t>MEASURED TIMELINE · PT</a:t>
            </a:r>
          </a:p>
        </p:txBody>
      </p:sp>
      <p:sp>
        <p:nvSpPr>
          <p:cNvPr id="4" name="">
            <a:extLst xmlns:a="http://schemas.openxmlformats.org/drawingml/2006/main">
              <a:ext uri="{FF2B5EF4-FFF2-40B4-BE49-F238E27FC236}">
                <a16:creationId xmlns:a16="http://schemas.microsoft.com/office/drawing/2014/main" id="{46011F44-1AC4-40A4-A35A-13B3CEC5D8C6}"/>
              </a:ext>
            </a:extLst>
          </p:cNvPr>
          <p:cNvSpPr>
            <a:spLocks xmlns:a="http://schemas.openxmlformats.org/drawingml/2006/main" noGrp="1"/>
          </p:cNvSpPr>
          <p:nvPr/>
        </p:nvSpPr>
        <p:spPr>
          <a:xfrm xmlns:a="http://schemas.openxmlformats.org/drawingml/2006/main">
            <a:off x="685800" y="2247900"/>
            <a:ext cx="3333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F5F7FA"/>
                </a:solidFill>
              </a:defRPr>
            </a:pPr>
            <a:r>
              <a:rPr sz="2250" b="1">
                <a:solidFill>
                  <a:srgbClr val="F5F7FA"/>
                </a:solidFill>
              </a:rPr>
              <a:t>07:21:58  First fault</a:t>
            </a:r>
          </a:p>
          <a:p xmlns:a="http://schemas.openxmlformats.org/drawingml/2006/main">
            <a:pPr algn="l">
              <a:buNone/>
              <a:defRPr sz="2250" b="1">
                <a:solidFill>
                  <a:srgbClr val="F5F7FA"/>
                </a:solidFill>
              </a:defRPr>
            </a:pPr>
            <a:r>
              <a:rPr sz="2250" b="1">
                <a:solidFill>
                  <a:srgbClr val="F5F7FA"/>
                </a:solidFill>
              </a:rPr>
              <a:t>07:33:59  Detected</a:t>
            </a:r>
          </a:p>
          <a:p xmlns:a="http://schemas.openxmlformats.org/drawingml/2006/main">
            <a:pPr algn="l">
              <a:buNone/>
              <a:defRPr sz="2250" b="1">
                <a:solidFill>
                  <a:srgbClr val="F5F7FA"/>
                </a:solidFill>
              </a:defRPr>
            </a:pPr>
            <a:r>
              <a:rPr sz="2250" b="1">
                <a:solidFill>
                  <a:srgbClr val="F5F7FA"/>
                </a:solidFill>
              </a:rPr>
              <a:t>07:58:38  Verified</a:t>
            </a:r>
          </a:p>
          <a:p xmlns:a="http://schemas.openxmlformats.org/drawingml/2006/main">
            <a:pPr algn="l">
              <a:buNone/>
              <a:defRPr sz="2250" b="1">
                <a:solidFill>
                  <a:srgbClr val="F5F7FA"/>
                </a:solidFill>
              </a:defRPr>
            </a:pPr>
            <a:r>
              <a:rPr sz="2250" b="1">
                <a:solidFill>
                  <a:srgbClr val="F5F7FA"/>
                </a:solidFill>
              </a:rPr>
              <a:t>36m 40s  Elapsed</a:t>
            </a:r>
          </a:p>
        </p:txBody>
      </p:sp>
      <p:sp>
        <p:nvSpPr>
          <p:cNvPr id="5" name="">
            <a:extLst xmlns:a="http://schemas.openxmlformats.org/drawingml/2006/main">
              <a:ext uri="{FF2B5EF4-FFF2-40B4-BE49-F238E27FC236}">
                <a16:creationId xmlns:a16="http://schemas.microsoft.com/office/drawing/2014/main" id="{F65DBC35-A5B2-4252-9D11-1D7859814396}"/>
              </a:ext>
            </a:extLst>
          </p:cNvPr>
          <p:cNvSpPr>
            <a:spLocks xmlns:a="http://schemas.openxmlformats.org/drawingml/2006/main" noGrp="1"/>
          </p:cNvSpPr>
          <p:nvPr/>
        </p:nvSpPr>
        <p:spPr>
          <a:xfrm xmlns:a="http://schemas.openxmlformats.org/drawingml/2006/main">
            <a:off x="4476750" y="1790700"/>
            <a:ext cx="19050" cy="3543300"/>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6" name="">
            <a:extLst xmlns:a="http://schemas.openxmlformats.org/drawingml/2006/main">
              <a:ext uri="{FF2B5EF4-FFF2-40B4-BE49-F238E27FC236}">
                <a16:creationId xmlns:a16="http://schemas.microsoft.com/office/drawing/2014/main" id="{D1BE1321-7AAB-4831-81B2-971930A4C8D0}"/>
              </a:ext>
            </a:extLst>
          </p:cNvPr>
          <p:cNvSpPr>
            <a:spLocks xmlns:a="http://schemas.openxmlformats.org/drawingml/2006/main" noGrp="1"/>
          </p:cNvSpPr>
          <p:nvPr/>
        </p:nvSpPr>
        <p:spPr>
          <a:xfrm xmlns:a="http://schemas.openxmlformats.org/drawingml/2006/main">
            <a:off x="5048250" y="1790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2ED9FF"/>
                </a:solidFill>
              </a:defRPr>
            </a:pPr>
            <a:r>
              <a:rPr sz="1125" b="1">
                <a:solidFill>
                  <a:srgbClr val="2ED9FF"/>
                </a:solidFill>
              </a:rPr>
              <a:t>REPAIR + EVIDENCE</a:t>
            </a:r>
          </a:p>
        </p:txBody>
      </p:sp>
      <p:sp>
        <p:nvSpPr>
          <p:cNvPr id="7" name="">
            <a:extLst xmlns:a="http://schemas.openxmlformats.org/drawingml/2006/main">
              <a:ext uri="{FF2B5EF4-FFF2-40B4-BE49-F238E27FC236}">
                <a16:creationId xmlns:a16="http://schemas.microsoft.com/office/drawing/2014/main" id="{EFDCE569-146B-4578-A0B0-FE88F2FD1851}"/>
              </a:ext>
            </a:extLst>
          </p:cNvPr>
          <p:cNvSpPr>
            <a:spLocks xmlns:a="http://schemas.openxmlformats.org/drawingml/2006/main" noGrp="1"/>
          </p:cNvSpPr>
          <p:nvPr/>
        </p:nvSpPr>
        <p:spPr>
          <a:xfrm xmlns:a="http://schemas.openxmlformats.org/drawingml/2006/main">
            <a:off x="5048250" y="2266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1,041 contracts. Two pages.</a:t>
            </a:r>
          </a:p>
        </p:txBody>
      </p:sp>
      <p:sp>
        <p:nvSpPr>
          <p:cNvPr id="8" name="">
            <a:extLst xmlns:a="http://schemas.openxmlformats.org/drawingml/2006/main">
              <a:ext uri="{FF2B5EF4-FFF2-40B4-BE49-F238E27FC236}">
                <a16:creationId xmlns:a16="http://schemas.microsoft.com/office/drawing/2014/main" id="{280C8CD2-F955-4C11-815B-CEA4A0C1C840}"/>
              </a:ext>
            </a:extLst>
          </p:cNvPr>
          <p:cNvSpPr>
            <a:spLocks xmlns:a="http://schemas.openxmlformats.org/drawingml/2006/main" noGrp="1"/>
          </p:cNvSpPr>
          <p:nvPr/>
        </p:nvSpPr>
        <p:spPr>
          <a:xfrm xmlns:a="http://schemas.openxmlformats.org/drawingml/2006/main">
            <a:off x="5048250" y="26479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Complete bounded retrieval; no silent truncation.</a:t>
            </a:r>
          </a:p>
        </p:txBody>
      </p:sp>
      <p:sp>
        <p:nvSpPr>
          <p:cNvPr id="9" name="">
            <a:extLst xmlns:a="http://schemas.openxmlformats.org/drawingml/2006/main">
              <a:ext uri="{FF2B5EF4-FFF2-40B4-BE49-F238E27FC236}">
                <a16:creationId xmlns:a16="http://schemas.microsoft.com/office/drawing/2014/main" id="{7FCE1528-DFD3-4E98-9B54-F962BDDA1BB5}"/>
              </a:ext>
            </a:extLst>
          </p:cNvPr>
          <p:cNvSpPr>
            <a:spLocks xmlns:a="http://schemas.openxmlformats.org/drawingml/2006/main" noGrp="1"/>
          </p:cNvSpPr>
          <p:nvPr/>
        </p:nvSpPr>
        <p:spPr>
          <a:xfrm xmlns:a="http://schemas.openxmlformats.org/drawingml/2006/main">
            <a:off x="5048250" y="3333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102 local tests passed</a:t>
            </a:r>
          </a:p>
        </p:txBody>
      </p:sp>
      <p:sp>
        <p:nvSpPr>
          <p:cNvPr id="10" name="">
            <a:extLst xmlns:a="http://schemas.openxmlformats.org/drawingml/2006/main">
              <a:ext uri="{FF2B5EF4-FFF2-40B4-BE49-F238E27FC236}">
                <a16:creationId xmlns:a16="http://schemas.microsoft.com/office/drawing/2014/main" id="{C59C35C4-3E85-42E1-96E8-ACCBA8CF5D5A}"/>
              </a:ext>
            </a:extLst>
          </p:cNvPr>
          <p:cNvSpPr>
            <a:spLocks xmlns:a="http://schemas.openxmlformats.org/drawingml/2006/main" noGrp="1"/>
          </p:cNvSpPr>
          <p:nvPr/>
        </p:nvSpPr>
        <p:spPr>
          <a:xfrm xmlns:a="http://schemas.openxmlformats.org/drawingml/2006/main">
            <a:off x="5048250" y="3714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VM: 101 passed; one Windows-only skip.</a:t>
            </a:r>
          </a:p>
        </p:txBody>
      </p:sp>
      <p:sp>
        <p:nvSpPr>
          <p:cNvPr id="11" name="">
            <a:extLst xmlns:a="http://schemas.openxmlformats.org/drawingml/2006/main">
              <a:ext uri="{FF2B5EF4-FFF2-40B4-BE49-F238E27FC236}">
                <a16:creationId xmlns:a16="http://schemas.microsoft.com/office/drawing/2014/main" id="{1ED6D756-C868-41BE-90D6-E64117ED0C93}"/>
              </a:ext>
            </a:extLst>
          </p:cNvPr>
          <p:cNvSpPr>
            <a:spLocks xmlns:a="http://schemas.openxmlformats.org/drawingml/2006/main" noGrp="1"/>
          </p:cNvSpPr>
          <p:nvPr/>
        </p:nvSpPr>
        <p:spPr>
          <a:xfrm xmlns:a="http://schemas.openxmlformats.org/drawingml/2006/main">
            <a:off x="5048250" y="44005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State and policy preserved</a:t>
            </a:r>
          </a:p>
        </p:txBody>
      </p:sp>
      <p:sp>
        <p:nvSpPr>
          <p:cNvPr id="12" name="">
            <a:extLst xmlns:a="http://schemas.openxmlformats.org/drawingml/2006/main">
              <a:ext uri="{FF2B5EF4-FFF2-40B4-BE49-F238E27FC236}">
                <a16:creationId xmlns:a16="http://schemas.microsoft.com/office/drawing/2014/main" id="{88E17528-0A5C-4F5C-91E3-81419BF31995}"/>
              </a:ext>
            </a:extLst>
          </p:cNvPr>
          <p:cNvSpPr>
            <a:spLocks xmlns:a="http://schemas.openxmlformats.org/drawingml/2006/main" noGrp="1"/>
          </p:cNvSpPr>
          <p:nvPr/>
        </p:nvSpPr>
        <p:spPr>
          <a:xfrm xmlns:a="http://schemas.openxmlformats.org/drawingml/2006/main">
            <a:off x="5048250" y="47815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No orders or loss observed through recovery.</a:t>
            </a:r>
          </a:p>
        </p:txBody>
      </p:sp>
      <p:sp>
        <p:nvSpPr>
          <p:cNvPr id="13" name="">
            <a:extLst xmlns:a="http://schemas.openxmlformats.org/drawingml/2006/main">
              <a:ext uri="{FF2B5EF4-FFF2-40B4-BE49-F238E27FC236}">
                <a16:creationId xmlns:a16="http://schemas.microsoft.com/office/drawing/2014/main" id="{FC03E33B-5E01-4A6C-BB63-7E3B87967A02}"/>
              </a:ext>
            </a:extLst>
          </p:cNvPr>
          <p:cNvSpPr>
            <a:spLocks xmlns:a="http://schemas.openxmlformats.org/drawingml/2006/main" noGrp="1"/>
          </p:cNvSpPr>
          <p:nvPr/>
        </p:nvSpPr>
        <p:spPr>
          <a:xfrm xmlns:a="http://schemas.openxmlformats.org/drawingml/2006/main">
            <a:off x="9334500" y="2362200"/>
            <a:ext cx="2019300" cy="2095500"/>
          </a:xfrm>
          <a:prstGeom xmlns:a="http://schemas.openxmlformats.org/drawingml/2006/main" prst="roundRect">
            <a:avLst>
              <a:gd name="adj" fmla="val 3774"/>
            </a:avLst>
          </a:prstGeom>
          <a:solidFill xmlns:a="http://schemas.openxmlformats.org/drawingml/2006/main">
            <a:srgbClr val="0B2235"/>
          </a:solidFill>
          <a:ln xmlns:a="http://schemas.openxmlformats.org/drawingml/2006/main" w="9525">
            <a:solidFill>
              <a:srgbClr val="E5B95C"/>
            </a:solidFill>
            <a:prstDash val="solid"/>
          </a:ln>
        </p:spPr>
      </p:sp>
      <p:sp>
        <p:nvSpPr>
          <p:cNvPr id="14" name="">
            <a:extLst xmlns:a="http://schemas.openxmlformats.org/drawingml/2006/main">
              <a:ext uri="{FF2B5EF4-FFF2-40B4-BE49-F238E27FC236}">
                <a16:creationId xmlns:a16="http://schemas.microsoft.com/office/drawing/2014/main" id="{9348B6DE-A899-493F-B565-A51324B5E985}"/>
              </a:ext>
            </a:extLst>
          </p:cNvPr>
          <p:cNvSpPr>
            <a:spLocks xmlns:a="http://schemas.openxmlformats.org/drawingml/2006/main" noGrp="1"/>
          </p:cNvSpPr>
          <p:nvPr/>
        </p:nvSpPr>
        <p:spPr>
          <a:xfrm xmlns:a="http://schemas.openxmlformats.org/drawingml/2006/main">
            <a:off x="9544050" y="2800350"/>
            <a:ext cx="1600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E5B95C"/>
                </a:solidFill>
              </a:defRPr>
            </a:pPr>
            <a:r>
              <a:rPr sz="2550" b="1">
                <a:solidFill>
                  <a:srgbClr val="E5B95C"/>
                </a:solidFill>
              </a:rPr>
              <a:t>NO</a:t>
            </a:r>
          </a:p>
        </p:txBody>
      </p:sp>
      <p:sp>
        <p:nvSpPr>
          <p:cNvPr id="15" name="">
            <a:extLst xmlns:a="http://schemas.openxmlformats.org/drawingml/2006/main">
              <a:ext uri="{FF2B5EF4-FFF2-40B4-BE49-F238E27FC236}">
                <a16:creationId xmlns:a16="http://schemas.microsoft.com/office/drawing/2014/main" id="{24A87F72-8970-447D-90BE-1CB4236EBFA7}"/>
              </a:ext>
            </a:extLst>
          </p:cNvPr>
          <p:cNvSpPr>
            <a:spLocks xmlns:a="http://schemas.openxmlformats.org/drawingml/2006/main" noGrp="1"/>
          </p:cNvSpPr>
          <p:nvPr/>
        </p:nvSpPr>
        <p:spPr>
          <a:xfrm xmlns:a="http://schemas.openxmlformats.org/drawingml/2006/main">
            <a:off x="9544050" y="3352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F5F7FA"/>
                </a:solidFill>
              </a:defRPr>
            </a:pPr>
            <a:r>
              <a:rPr sz="1650" b="0">
                <a:solidFill>
                  <a:srgbClr val="F5F7FA"/>
                </a:solidFill>
              </a:rPr>
              <a:t>ORDERS</a:t>
            </a:r>
          </a:p>
        </p:txBody>
      </p:sp>
      <p:sp>
        <p:nvSpPr>
          <p:cNvPr id="16" name="">
            <a:extLst xmlns:a="http://schemas.openxmlformats.org/drawingml/2006/main">
              <a:ext uri="{FF2B5EF4-FFF2-40B4-BE49-F238E27FC236}">
                <a16:creationId xmlns:a16="http://schemas.microsoft.com/office/drawing/2014/main" id="{97D3DA53-44C9-4E2B-A546-6134682AAD11}"/>
              </a:ext>
            </a:extLst>
          </p:cNvPr>
          <p:cNvSpPr>
            <a:spLocks xmlns:a="http://schemas.openxmlformats.org/drawingml/2006/main" noGrp="1"/>
          </p:cNvSpPr>
          <p:nvPr/>
        </p:nvSpPr>
        <p:spPr>
          <a:xfrm xmlns:a="http://schemas.openxmlformats.org/drawingml/2006/main">
            <a:off x="9544050" y="38862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2ED9FF"/>
                </a:solidFill>
              </a:defRPr>
            </a:pPr>
            <a:r>
              <a:rPr sz="1200" b="0">
                <a:solidFill>
                  <a:srgbClr val="2ED9FF"/>
                </a:solidFill>
              </a:rPr>
              <a:t>through recovery</a:t>
            </a:r>
          </a:p>
        </p:txBody>
      </p:sp>
      <p:sp>
        <p:nvSpPr>
          <p:cNvPr id="17" name="">
            <a:extLst xmlns:a="http://schemas.openxmlformats.org/drawingml/2006/main">
              <a:ext uri="{FF2B5EF4-FFF2-40B4-BE49-F238E27FC236}">
                <a16:creationId xmlns:a16="http://schemas.microsoft.com/office/drawing/2014/main" id="{E6AC049F-1E4C-42F2-B524-76F1B2F2CEE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8" name="">
            <a:extLst xmlns:a="http://schemas.openxmlformats.org/drawingml/2006/main">
              <a:ext uri="{FF2B5EF4-FFF2-40B4-BE49-F238E27FC236}">
                <a16:creationId xmlns:a16="http://schemas.microsoft.com/office/drawing/2014/main" id="{1B867462-6BD3-46F8-AD52-CFA8140A151E}"/>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9" name="">
            <a:extLst xmlns:a="http://schemas.openxmlformats.org/drawingml/2006/main">
              <a:ext uri="{FF2B5EF4-FFF2-40B4-BE49-F238E27FC236}">
                <a16:creationId xmlns:a16="http://schemas.microsoft.com/office/drawing/2014/main" id="{AEF15455-9DBF-4227-B386-A8005CF6B5E9}"/>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08</a:t>
            </a:r>
          </a:p>
        </p:txBody>
      </p:sp>
    </p:spTree>
    <p:extLst>
      <p:ext uri="{BB962C8B-B14F-4D97-AF65-F5344CB8AC3E}">
        <p14:creationId xmlns:p14="http://schemas.microsoft.com/office/powerpoint/2010/main" val="34679910"/>
      </p:ext>
    </p:extLst>
  </p:cSld>
</p:sld>
</file>

<file path=ppt/slides/slide9.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EE1350E-66FB-414D-96DC-26D9F6F09898}"/>
              </a:ext>
            </a:extLst>
          </p:cNvPr>
          <p:cNvSpPr>
            <a:spLocks xmlns:a="http://schemas.openxmlformats.org/drawingml/2006/main" noGrp="1"/>
          </p:cNvSpPr>
          <p:nvPr/>
        </p:nvSpPr>
        <p:spPr>
          <a:xfrm xmlns:a="http://schemas.openxmlformats.org/drawingml/2006/main">
            <a:off x="685800" y="457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ED9FF"/>
                </a:solidFill>
              </a:defRPr>
            </a:pPr>
            <a:r>
              <a:rPr sz="975" b="1">
                <a:solidFill>
                  <a:srgbClr val="2ED9FF"/>
                </a:solidFill>
              </a:rPr>
              <a:t>BUSINESS VALUE</a:t>
            </a:r>
          </a:p>
        </p:txBody>
      </p:sp>
      <p:sp>
        <p:nvSpPr>
          <p:cNvPr id="2" name="">
            <a:extLst xmlns:a="http://schemas.openxmlformats.org/drawingml/2006/main">
              <a:ext uri="{FF2B5EF4-FFF2-40B4-BE49-F238E27FC236}">
                <a16:creationId xmlns:a16="http://schemas.microsoft.com/office/drawing/2014/main" id="{E919D599-BE2C-421F-8C93-9D961DFFB85F}"/>
              </a:ext>
            </a:extLst>
          </p:cNvPr>
          <p:cNvSpPr>
            <a:spLocks xmlns:a="http://schemas.openxmlformats.org/drawingml/2006/main" noGrp="1"/>
          </p:cNvSpPr>
          <p:nvPr/>
        </p:nvSpPr>
        <p:spPr>
          <a:xfrm xmlns:a="http://schemas.openxmlformats.org/drawingml/2006/main">
            <a:off x="685800" y="8001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F5F7FA"/>
                </a:solidFill>
              </a:defRPr>
            </a:pPr>
            <a:r>
              <a:rPr sz="2850" b="1">
                <a:solidFill>
                  <a:srgbClr val="F5F7FA"/>
                </a:solidFill>
              </a:rPr>
              <a:t>A trust layer for AI options workflows</a:t>
            </a:r>
          </a:p>
        </p:txBody>
      </p:sp>
      <p:sp>
        <p:nvSpPr>
          <p:cNvPr id="3" name="">
            <a:extLst xmlns:a="http://schemas.openxmlformats.org/drawingml/2006/main">
              <a:ext uri="{FF2B5EF4-FFF2-40B4-BE49-F238E27FC236}">
                <a16:creationId xmlns:a16="http://schemas.microsoft.com/office/drawing/2014/main" id="{1FD224A0-AB69-40BA-9FBB-355EA6F25387}"/>
              </a:ext>
            </a:extLst>
          </p:cNvPr>
          <p:cNvSpPr>
            <a:spLocks xmlns:a="http://schemas.openxmlformats.org/drawingml/2006/main" noGrp="1"/>
          </p:cNvSpPr>
          <p:nvPr/>
        </p:nvSpPr>
        <p:spPr>
          <a:xfrm xmlns:a="http://schemas.openxmlformats.org/drawingml/2006/main">
            <a:off x="685800" y="1790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E5B95C"/>
                </a:solidFill>
              </a:defRPr>
            </a:pPr>
            <a:r>
              <a:rPr sz="1125" b="1">
                <a:solidFill>
                  <a:srgbClr val="E5B95C"/>
                </a:solidFill>
              </a:rPr>
              <a:t>WHO IT COULD SERVE</a:t>
            </a:r>
          </a:p>
        </p:txBody>
      </p:sp>
      <p:sp>
        <p:nvSpPr>
          <p:cNvPr id="4" name="">
            <a:extLst xmlns:a="http://schemas.openxmlformats.org/drawingml/2006/main">
              <a:ext uri="{FF2B5EF4-FFF2-40B4-BE49-F238E27FC236}">
                <a16:creationId xmlns:a16="http://schemas.microsoft.com/office/drawing/2014/main" id="{46011F44-1AC4-40A4-A35A-13B3CEC5D8C6}"/>
              </a:ext>
            </a:extLst>
          </p:cNvPr>
          <p:cNvSpPr>
            <a:spLocks xmlns:a="http://schemas.openxmlformats.org/drawingml/2006/main" noGrp="1"/>
          </p:cNvSpPr>
          <p:nvPr/>
        </p:nvSpPr>
        <p:spPr>
          <a:xfrm xmlns:a="http://schemas.openxmlformats.org/drawingml/2006/main">
            <a:off x="685800" y="2247900"/>
            <a:ext cx="3333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F5F7FA"/>
                </a:solidFill>
              </a:defRPr>
            </a:pPr>
            <a:r>
              <a:rPr sz="2250" b="1">
                <a:solidFill>
                  <a:srgbClr val="F5F7FA"/>
                </a:solidFill>
              </a:rPr>
              <a:t>Brokerages</a:t>
            </a:r>
          </a:p>
          <a:p xmlns:a="http://schemas.openxmlformats.org/drawingml/2006/main">
            <a:pPr algn="l">
              <a:buNone/>
              <a:defRPr sz="2250" b="1">
                <a:solidFill>
                  <a:srgbClr val="F5F7FA"/>
                </a:solidFill>
              </a:defRPr>
            </a:pPr>
            <a:r>
              <a:rPr sz="2250" b="1">
                <a:solidFill>
                  <a:srgbClr val="F5F7FA"/>
                </a:solidFill>
              </a:rPr>
              <a:t>Fintech platforms</a:t>
            </a:r>
          </a:p>
          <a:p xmlns:a="http://schemas.openxmlformats.org/drawingml/2006/main">
            <a:pPr algn="l">
              <a:buNone/>
              <a:defRPr sz="2250" b="1">
                <a:solidFill>
                  <a:srgbClr val="F5F7FA"/>
                </a:solidFill>
              </a:defRPr>
            </a:pPr>
            <a:r>
              <a:rPr sz="2250" b="1">
                <a:solidFill>
                  <a:srgbClr val="F5F7FA"/>
                </a:solidFill>
              </a:rPr>
              <a:t>Wealth tools</a:t>
            </a:r>
          </a:p>
          <a:p xmlns:a="http://schemas.openxmlformats.org/drawingml/2006/main">
            <a:pPr algn="l">
              <a:buNone/>
              <a:defRPr sz="2250" b="1">
                <a:solidFill>
                  <a:srgbClr val="F5F7FA"/>
                </a:solidFill>
              </a:defRPr>
            </a:pPr>
            <a:r>
              <a:rPr sz="2250" b="1">
                <a:solidFill>
                  <a:srgbClr val="F5F7FA"/>
                </a:solidFill>
              </a:rPr>
              <a:t>Agent developers</a:t>
            </a:r>
          </a:p>
        </p:txBody>
      </p:sp>
      <p:sp>
        <p:nvSpPr>
          <p:cNvPr id="5" name="">
            <a:extLst xmlns:a="http://schemas.openxmlformats.org/drawingml/2006/main">
              <a:ext uri="{FF2B5EF4-FFF2-40B4-BE49-F238E27FC236}">
                <a16:creationId xmlns:a16="http://schemas.microsoft.com/office/drawing/2014/main" id="{F65DBC35-A5B2-4252-9D11-1D7859814396}"/>
              </a:ext>
            </a:extLst>
          </p:cNvPr>
          <p:cNvSpPr>
            <a:spLocks xmlns:a="http://schemas.openxmlformats.org/drawingml/2006/main" noGrp="1"/>
          </p:cNvSpPr>
          <p:nvPr/>
        </p:nvSpPr>
        <p:spPr>
          <a:xfrm xmlns:a="http://schemas.openxmlformats.org/drawingml/2006/main">
            <a:off x="4476750" y="1790700"/>
            <a:ext cx="19050" cy="3543300"/>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6" name="">
            <a:extLst xmlns:a="http://schemas.openxmlformats.org/drawingml/2006/main">
              <a:ext uri="{FF2B5EF4-FFF2-40B4-BE49-F238E27FC236}">
                <a16:creationId xmlns:a16="http://schemas.microsoft.com/office/drawing/2014/main" id="{D1BE1321-7AAB-4831-81B2-971930A4C8D0}"/>
              </a:ext>
            </a:extLst>
          </p:cNvPr>
          <p:cNvSpPr>
            <a:spLocks xmlns:a="http://schemas.openxmlformats.org/drawingml/2006/main" noGrp="1"/>
          </p:cNvSpPr>
          <p:nvPr/>
        </p:nvSpPr>
        <p:spPr>
          <a:xfrm xmlns:a="http://schemas.openxmlformats.org/drawingml/2006/main">
            <a:off x="5048250" y="17907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2ED9FF"/>
                </a:solidFill>
              </a:defRPr>
            </a:pPr>
            <a:r>
              <a:rPr sz="1125" b="1">
                <a:solidFill>
                  <a:srgbClr val="2ED9FF"/>
                </a:solidFill>
              </a:rPr>
              <a:t>WHAT WE OFFER</a:t>
            </a:r>
          </a:p>
        </p:txBody>
      </p:sp>
      <p:sp>
        <p:nvSpPr>
          <p:cNvPr id="7" name="">
            <a:extLst xmlns:a="http://schemas.openxmlformats.org/drawingml/2006/main">
              <a:ext uri="{FF2B5EF4-FFF2-40B4-BE49-F238E27FC236}">
                <a16:creationId xmlns:a16="http://schemas.microsoft.com/office/drawing/2014/main" id="{EFDCE569-146B-4578-A0B0-FE88F2FD1851}"/>
              </a:ext>
            </a:extLst>
          </p:cNvPr>
          <p:cNvSpPr>
            <a:spLocks xmlns:a="http://schemas.openxmlformats.org/drawingml/2006/main" noGrp="1"/>
          </p:cNvSpPr>
          <p:nvPr/>
        </p:nvSpPr>
        <p:spPr>
          <a:xfrm xmlns:a="http://schemas.openxmlformats.org/drawingml/2006/main">
            <a:off x="5048250" y="2266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Quote-derived provenance</a:t>
            </a:r>
          </a:p>
        </p:txBody>
      </p:sp>
      <p:sp>
        <p:nvSpPr>
          <p:cNvPr id="8" name="">
            <a:extLst xmlns:a="http://schemas.openxmlformats.org/drawingml/2006/main">
              <a:ext uri="{FF2B5EF4-FFF2-40B4-BE49-F238E27FC236}">
                <a16:creationId xmlns:a16="http://schemas.microsoft.com/office/drawing/2014/main" id="{280C8CD2-F955-4C11-815B-CEA4A0C1C840}"/>
              </a:ext>
            </a:extLst>
          </p:cNvPr>
          <p:cNvSpPr>
            <a:spLocks xmlns:a="http://schemas.openxmlformats.org/drawingml/2006/main" noGrp="1"/>
          </p:cNvSpPr>
          <p:nvPr/>
        </p:nvSpPr>
        <p:spPr>
          <a:xfrm xmlns:a="http://schemas.openxmlformats.org/drawingml/2006/main">
            <a:off x="5048250" y="26479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Why these legs, economics, and outcome?</a:t>
            </a:r>
          </a:p>
        </p:txBody>
      </p:sp>
      <p:sp>
        <p:nvSpPr>
          <p:cNvPr id="9" name="">
            <a:extLst xmlns:a="http://schemas.openxmlformats.org/drawingml/2006/main">
              <a:ext uri="{FF2B5EF4-FFF2-40B4-BE49-F238E27FC236}">
                <a16:creationId xmlns:a16="http://schemas.microsoft.com/office/drawing/2014/main" id="{7FCE1528-DFD3-4E98-9B54-F962BDDA1BB5}"/>
              </a:ext>
            </a:extLst>
          </p:cNvPr>
          <p:cNvSpPr>
            <a:spLocks xmlns:a="http://schemas.openxmlformats.org/drawingml/2006/main" noGrp="1"/>
          </p:cNvSpPr>
          <p:nvPr/>
        </p:nvSpPr>
        <p:spPr>
          <a:xfrm xmlns:a="http://schemas.openxmlformats.org/drawingml/2006/main">
            <a:off x="5048250" y="3333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Fail-closed planning</a:t>
            </a:r>
          </a:p>
        </p:txBody>
      </p:sp>
      <p:sp>
        <p:nvSpPr>
          <p:cNvPr id="10" name="">
            <a:extLst xmlns:a="http://schemas.openxmlformats.org/drawingml/2006/main">
              <a:ext uri="{FF2B5EF4-FFF2-40B4-BE49-F238E27FC236}">
                <a16:creationId xmlns:a16="http://schemas.microsoft.com/office/drawing/2014/main" id="{C59C35C4-3E85-42E1-96E8-ACCBA8CF5D5A}"/>
              </a:ext>
            </a:extLst>
          </p:cNvPr>
          <p:cNvSpPr>
            <a:spLocks xmlns:a="http://schemas.openxmlformats.org/drawingml/2006/main" noGrp="1"/>
          </p:cNvSpPr>
          <p:nvPr/>
        </p:nvSpPr>
        <p:spPr>
          <a:xfrm xmlns:a="http://schemas.openxmlformats.org/drawingml/2006/main">
            <a:off x="5048250" y="3714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No model-direct path to a broker payload.</a:t>
            </a:r>
          </a:p>
        </p:txBody>
      </p:sp>
      <p:sp>
        <p:nvSpPr>
          <p:cNvPr id="11" name="">
            <a:extLst xmlns:a="http://schemas.openxmlformats.org/drawingml/2006/main">
              <a:ext uri="{FF2B5EF4-FFF2-40B4-BE49-F238E27FC236}">
                <a16:creationId xmlns:a16="http://schemas.microsoft.com/office/drawing/2014/main" id="{1ED6D756-C868-41BE-90D6-E64117ED0C93}"/>
              </a:ext>
            </a:extLst>
          </p:cNvPr>
          <p:cNvSpPr>
            <a:spLocks xmlns:a="http://schemas.openxmlformats.org/drawingml/2006/main" noGrp="1"/>
          </p:cNvSpPr>
          <p:nvPr/>
        </p:nvSpPr>
        <p:spPr>
          <a:xfrm xmlns:a="http://schemas.openxmlformats.org/drawingml/2006/main">
            <a:off x="5048250" y="44005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F5F7FA"/>
                </a:solidFill>
              </a:defRPr>
            </a:pPr>
            <a:r>
              <a:rPr sz="1950" b="1">
                <a:solidFill>
                  <a:srgbClr val="F5F7FA"/>
                </a:solidFill>
              </a:rPr>
              <a:t>Audit-ready replay</a:t>
            </a:r>
          </a:p>
        </p:txBody>
      </p:sp>
      <p:sp>
        <p:nvSpPr>
          <p:cNvPr id="12" name="">
            <a:extLst xmlns:a="http://schemas.openxmlformats.org/drawingml/2006/main">
              <a:ext uri="{FF2B5EF4-FFF2-40B4-BE49-F238E27FC236}">
                <a16:creationId xmlns:a16="http://schemas.microsoft.com/office/drawing/2014/main" id="{88E17528-0A5C-4F5C-91E3-81419BF31995}"/>
              </a:ext>
            </a:extLst>
          </p:cNvPr>
          <p:cNvSpPr>
            <a:spLocks xmlns:a="http://schemas.openxmlformats.org/drawingml/2006/main" noGrp="1"/>
          </p:cNvSpPr>
          <p:nvPr/>
        </p:nvSpPr>
        <p:spPr>
          <a:xfrm xmlns:a="http://schemas.openxmlformats.org/drawingml/2006/main">
            <a:off x="5048250" y="47815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9FB2C2"/>
                </a:solidFill>
              </a:defRPr>
            </a:pPr>
            <a:r>
              <a:rPr sz="1350" b="0">
                <a:solidFill>
                  <a:srgbClr val="9FB2C2"/>
                </a:solidFill>
              </a:rPr>
              <a:t>Passes and abstentions share one ledger.</a:t>
            </a:r>
          </a:p>
        </p:txBody>
      </p:sp>
      <p:sp>
        <p:nvSpPr>
          <p:cNvPr id="13" name="">
            <a:extLst xmlns:a="http://schemas.openxmlformats.org/drawingml/2006/main">
              <a:ext uri="{FF2B5EF4-FFF2-40B4-BE49-F238E27FC236}">
                <a16:creationId xmlns:a16="http://schemas.microsoft.com/office/drawing/2014/main" id="{FC03E33B-5E01-4A6C-BB63-7E3B87967A02}"/>
              </a:ext>
            </a:extLst>
          </p:cNvPr>
          <p:cNvSpPr>
            <a:spLocks xmlns:a="http://schemas.openxmlformats.org/drawingml/2006/main" noGrp="1"/>
          </p:cNvSpPr>
          <p:nvPr/>
        </p:nvSpPr>
        <p:spPr>
          <a:xfrm xmlns:a="http://schemas.openxmlformats.org/drawingml/2006/main">
            <a:off x="9334500" y="2362200"/>
            <a:ext cx="2019300" cy="2095500"/>
          </a:xfrm>
          <a:prstGeom xmlns:a="http://schemas.openxmlformats.org/drawingml/2006/main" prst="roundRect">
            <a:avLst>
              <a:gd name="adj" fmla="val 3774"/>
            </a:avLst>
          </a:prstGeom>
          <a:solidFill xmlns:a="http://schemas.openxmlformats.org/drawingml/2006/main">
            <a:srgbClr val="0B2235"/>
          </a:solidFill>
          <a:ln xmlns:a="http://schemas.openxmlformats.org/drawingml/2006/main" w="9525">
            <a:solidFill>
              <a:srgbClr val="E5B95C"/>
            </a:solidFill>
            <a:prstDash val="solid"/>
          </a:ln>
        </p:spPr>
      </p:sp>
      <p:sp>
        <p:nvSpPr>
          <p:cNvPr id="14" name="">
            <a:extLst xmlns:a="http://schemas.openxmlformats.org/drawingml/2006/main">
              <a:ext uri="{FF2B5EF4-FFF2-40B4-BE49-F238E27FC236}">
                <a16:creationId xmlns:a16="http://schemas.microsoft.com/office/drawing/2014/main" id="{9348B6DE-A899-493F-B565-A51324B5E985}"/>
              </a:ext>
            </a:extLst>
          </p:cNvPr>
          <p:cNvSpPr>
            <a:spLocks xmlns:a="http://schemas.openxmlformats.org/drawingml/2006/main" noGrp="1"/>
          </p:cNvSpPr>
          <p:nvPr/>
        </p:nvSpPr>
        <p:spPr>
          <a:xfrm xmlns:a="http://schemas.openxmlformats.org/drawingml/2006/main">
            <a:off x="9544050" y="2800350"/>
            <a:ext cx="1600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E5B95C"/>
                </a:solidFill>
              </a:defRPr>
            </a:pPr>
            <a:r>
              <a:rPr sz="2550" b="1">
                <a:solidFill>
                  <a:srgbClr val="E5B95C"/>
                </a:solidFill>
              </a:rPr>
              <a:t>PAPER</a:t>
            </a:r>
          </a:p>
        </p:txBody>
      </p:sp>
      <p:sp>
        <p:nvSpPr>
          <p:cNvPr id="15" name="">
            <a:extLst xmlns:a="http://schemas.openxmlformats.org/drawingml/2006/main">
              <a:ext uri="{FF2B5EF4-FFF2-40B4-BE49-F238E27FC236}">
                <a16:creationId xmlns:a16="http://schemas.microsoft.com/office/drawing/2014/main" id="{24A87F72-8970-447D-90BE-1CB4236EBFA7}"/>
              </a:ext>
            </a:extLst>
          </p:cNvPr>
          <p:cNvSpPr>
            <a:spLocks xmlns:a="http://schemas.openxmlformats.org/drawingml/2006/main" noGrp="1"/>
          </p:cNvSpPr>
          <p:nvPr/>
        </p:nvSpPr>
        <p:spPr>
          <a:xfrm xmlns:a="http://schemas.openxmlformats.org/drawingml/2006/main">
            <a:off x="9544050" y="3352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F5F7FA"/>
                </a:solidFill>
              </a:defRPr>
            </a:pPr>
            <a:r>
              <a:rPr sz="1650" b="0">
                <a:solidFill>
                  <a:srgbClr val="F5F7FA"/>
                </a:solidFill>
              </a:rPr>
              <a:t>first</a:t>
            </a:r>
          </a:p>
        </p:txBody>
      </p:sp>
      <p:sp>
        <p:nvSpPr>
          <p:cNvPr id="16" name="">
            <a:extLst xmlns:a="http://schemas.openxmlformats.org/drawingml/2006/main">
              <a:ext uri="{FF2B5EF4-FFF2-40B4-BE49-F238E27FC236}">
                <a16:creationId xmlns:a16="http://schemas.microsoft.com/office/drawing/2014/main" id="{97D3DA53-44C9-4E2B-A546-6134682AAD11}"/>
              </a:ext>
            </a:extLst>
          </p:cNvPr>
          <p:cNvSpPr>
            <a:spLocks xmlns:a="http://schemas.openxmlformats.org/drawingml/2006/main" noGrp="1"/>
          </p:cNvSpPr>
          <p:nvPr/>
        </p:nvSpPr>
        <p:spPr>
          <a:xfrm xmlns:a="http://schemas.openxmlformats.org/drawingml/2006/main">
            <a:off x="9544050" y="38862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2ED9FF"/>
                </a:solidFill>
              </a:defRPr>
            </a:pPr>
            <a:r>
              <a:rPr sz="1200" b="0">
                <a:solidFill>
                  <a:srgbClr val="2ED9FF"/>
                </a:solidFill>
              </a:rPr>
              <a:t>proof before scale</a:t>
            </a:r>
          </a:p>
        </p:txBody>
      </p:sp>
      <p:sp>
        <p:nvSpPr>
          <p:cNvPr id="17" name="">
            <a:extLst xmlns:a="http://schemas.openxmlformats.org/drawingml/2006/main">
              <a:ext uri="{FF2B5EF4-FFF2-40B4-BE49-F238E27FC236}">
                <a16:creationId xmlns:a16="http://schemas.microsoft.com/office/drawing/2014/main" id="{E6AC049F-1E4C-42F2-B524-76F1B2F2CEE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8" name="">
            <a:extLst xmlns:a="http://schemas.openxmlformats.org/drawingml/2006/main">
              <a:ext uri="{FF2B5EF4-FFF2-40B4-BE49-F238E27FC236}">
                <a16:creationId xmlns:a16="http://schemas.microsoft.com/office/drawing/2014/main" id="{1B867462-6BD3-46F8-AD52-CFA8140A151E}"/>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9" name="">
            <a:extLst xmlns:a="http://schemas.openxmlformats.org/drawingml/2006/main">
              <a:ext uri="{FF2B5EF4-FFF2-40B4-BE49-F238E27FC236}">
                <a16:creationId xmlns:a16="http://schemas.microsoft.com/office/drawing/2014/main" id="{AEF15455-9DBF-4227-B386-A8005CF6B5E9}"/>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09</a:t>
            </a:r>
          </a:p>
        </p:txBody>
      </p:sp>
    </p:spTree>
    <p:extLst>
      <p:ext uri="{BB962C8B-B14F-4D97-AF65-F5344CB8AC3E}">
        <p14:creationId xmlns:p14="http://schemas.microsoft.com/office/powerpoint/2010/main" val="34679910"/>
      </p:ext>
    </p:extLst>
  </p:cSld>
</p:sld>
</file>

<file path=ppt/slides/slide10.xml><?xml version="1.0" encoding="utf-8"?>
<p:sld xmlns:p="http://schemas.openxmlformats.org/presentationml/2006/main">
  <p:cSld>
    <p:bg>
      <p:bgPr>
        <a:solidFill xmlns:a="http://schemas.openxmlformats.org/drawingml/2006/main">
          <a:srgbClr val="06132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6C72264-AE1C-4449-83E4-FE93C79CF87C}"/>
              </a:ext>
            </a:extLst>
          </p:cNvPr>
          <p:cNvSpPr>
            <a:spLocks xmlns:a="http://schemas.openxmlformats.org/drawingml/2006/main" noGrp="1"/>
          </p:cNvSpPr>
          <p:nvPr/>
        </p:nvSpPr>
        <p:spPr>
          <a:xfrm xmlns:a="http://schemas.openxmlformats.org/drawingml/2006/main">
            <a:off x="685800" y="9525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ED9FF"/>
                </a:solidFill>
              </a:defRPr>
            </a:pPr>
            <a:r>
              <a:rPr sz="1350" b="1">
                <a:solidFill>
                  <a:srgbClr val="2ED9FF"/>
                </a:solidFill>
              </a:rPr>
              <a:t>TRUST BEGINS WITH</a:t>
            </a:r>
          </a:p>
        </p:txBody>
      </p:sp>
      <p:sp>
        <p:nvSpPr>
          <p:cNvPr id="2" name="">
            <a:extLst xmlns:a="http://schemas.openxmlformats.org/drawingml/2006/main">
              <a:ext uri="{FF2B5EF4-FFF2-40B4-BE49-F238E27FC236}">
                <a16:creationId xmlns:a16="http://schemas.microsoft.com/office/drawing/2014/main" id="{B3B04738-9E67-4E03-A0E9-0B29BEEFE2C0}"/>
              </a:ext>
            </a:extLst>
          </p:cNvPr>
          <p:cNvSpPr>
            <a:spLocks xmlns:a="http://schemas.openxmlformats.org/drawingml/2006/main" noGrp="1"/>
          </p:cNvSpPr>
          <p:nvPr/>
        </p:nvSpPr>
        <p:spPr>
          <a:xfrm xmlns:a="http://schemas.openxmlformats.org/drawingml/2006/main">
            <a:off x="685800" y="1466850"/>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900" b="1">
                <a:solidFill>
                  <a:srgbClr val="F5F7FA"/>
                </a:solidFill>
              </a:defRPr>
            </a:pPr>
            <a:r>
              <a:rPr sz="3900" b="1">
                <a:solidFill>
                  <a:srgbClr val="F5F7FA"/>
                </a:solidFill>
              </a:rPr>
              <a:t>the option trade an agent refuses.</a:t>
            </a:r>
          </a:p>
        </p:txBody>
      </p:sp>
      <p:sp>
        <p:nvSpPr>
          <p:cNvPr id="3" name="">
            <a:extLst xmlns:a="http://schemas.openxmlformats.org/drawingml/2006/main">
              <a:ext uri="{FF2B5EF4-FFF2-40B4-BE49-F238E27FC236}">
                <a16:creationId xmlns:a16="http://schemas.microsoft.com/office/drawing/2014/main" id="{D4EA40D2-473F-4AD2-B3C9-7F456EB92D1B}"/>
              </a:ext>
            </a:extLst>
          </p:cNvPr>
          <p:cNvSpPr>
            <a:spLocks xmlns:a="http://schemas.openxmlformats.org/drawingml/2006/main" noGrp="1"/>
          </p:cNvSpPr>
          <p:nvPr/>
        </p:nvSpPr>
        <p:spPr>
          <a:xfrm xmlns:a="http://schemas.openxmlformats.org/drawingml/2006/main">
            <a:off x="685800" y="2914650"/>
            <a:ext cx="1600200" cy="38100"/>
          </a:xfrm>
          <a:prstGeom xmlns:a="http://schemas.openxmlformats.org/drawingml/2006/main" prst="rect">
            <a:avLst/>
          </a:prstGeom>
          <a:solidFill xmlns:a="http://schemas.openxmlformats.org/drawingml/2006/main">
            <a:srgbClr val="E5B95C"/>
          </a:solidFill>
          <a:ln xmlns:a="http://schemas.openxmlformats.org/drawingml/2006/main" w="9525">
            <a:solidFill>
              <a:srgbClr val="E5B95C"/>
            </a:solidFill>
            <a:prstDash val="solid"/>
          </a:ln>
        </p:spPr>
      </p:sp>
      <p:sp>
        <p:nvSpPr>
          <p:cNvPr id="4" name="">
            <a:extLst xmlns:a="http://schemas.openxmlformats.org/drawingml/2006/main">
              <a:ext uri="{FF2B5EF4-FFF2-40B4-BE49-F238E27FC236}">
                <a16:creationId xmlns:a16="http://schemas.microsoft.com/office/drawing/2014/main" id="{359F5518-C071-4A0F-A2B7-A41771027849}"/>
              </a:ext>
            </a:extLst>
          </p:cNvPr>
          <p:cNvSpPr>
            <a:spLocks xmlns:a="http://schemas.openxmlformats.org/drawingml/2006/main" noGrp="1"/>
          </p:cNvSpPr>
          <p:nvPr/>
        </p:nvSpPr>
        <p:spPr>
          <a:xfrm xmlns:a="http://schemas.openxmlformats.org/drawingml/2006/main">
            <a:off x="685800" y="3467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E5B95C"/>
                </a:solidFill>
              </a:defRPr>
            </a:pPr>
            <a:r>
              <a:rPr sz="1125" b="1">
                <a:solidFill>
                  <a:srgbClr val="E5B95C"/>
                </a:solidFill>
              </a:rPr>
              <a:t>NEXT</a:t>
            </a:r>
          </a:p>
        </p:txBody>
      </p:sp>
      <p:sp>
        <p:nvSpPr>
          <p:cNvPr id="5" name="">
            <a:extLst xmlns:a="http://schemas.openxmlformats.org/drawingml/2006/main">
              <a:ext uri="{FF2B5EF4-FFF2-40B4-BE49-F238E27FC236}">
                <a16:creationId xmlns:a16="http://schemas.microsoft.com/office/drawing/2014/main" id="{E76E7B3D-5871-4ADF-B25D-678F1FD09ECD}"/>
              </a:ext>
            </a:extLst>
          </p:cNvPr>
          <p:cNvSpPr>
            <a:spLocks xmlns:a="http://schemas.openxmlformats.org/drawingml/2006/main" noGrp="1"/>
          </p:cNvSpPr>
          <p:nvPr/>
        </p:nvSpPr>
        <p:spPr>
          <a:xfrm xmlns:a="http://schemas.openxmlformats.org/drawingml/2006/main">
            <a:off x="685800" y="396240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Try the public demo: 34.27.11.180</a:t>
            </a:r>
          </a:p>
        </p:txBody>
      </p:sp>
      <p:sp>
        <p:nvSpPr>
          <p:cNvPr id="6" name="">
            <a:extLst xmlns:a="http://schemas.openxmlformats.org/drawingml/2006/main">
              <a:ext uri="{FF2B5EF4-FFF2-40B4-BE49-F238E27FC236}">
                <a16:creationId xmlns:a16="http://schemas.microsoft.com/office/drawing/2014/main" id="{4DCC4E94-199C-4D63-B354-31DB800236D1}"/>
              </a:ext>
            </a:extLst>
          </p:cNvPr>
          <p:cNvSpPr>
            <a:spLocks xmlns:a="http://schemas.openxmlformats.org/drawingml/2006/main" noGrp="1"/>
          </p:cNvSpPr>
          <p:nvPr/>
        </p:nvSpPr>
        <p:spPr>
          <a:xfrm xmlns:a="http://schemas.openxmlformats.org/drawingml/2006/main">
            <a:off x="685800" y="4514850"/>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Inspect the receipts, including our failure</a:t>
            </a:r>
          </a:p>
        </p:txBody>
      </p:sp>
      <p:sp>
        <p:nvSpPr>
          <p:cNvPr id="7" name="">
            <a:extLst xmlns:a="http://schemas.openxmlformats.org/drawingml/2006/main">
              <a:ext uri="{FF2B5EF4-FFF2-40B4-BE49-F238E27FC236}">
                <a16:creationId xmlns:a16="http://schemas.microsoft.com/office/drawing/2014/main" id="{FCC36063-5FCA-4DDD-8D21-FDE0CD47C2C3}"/>
              </a:ext>
            </a:extLst>
          </p:cNvPr>
          <p:cNvSpPr>
            <a:spLocks xmlns:a="http://schemas.openxmlformats.org/drawingml/2006/main" noGrp="1"/>
          </p:cNvSpPr>
          <p:nvPr/>
        </p:nvSpPr>
        <p:spPr>
          <a:xfrm xmlns:a="http://schemas.openxmlformats.org/drawingml/2006/main">
            <a:off x="685800" y="50673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5F7FA"/>
                </a:solidFill>
              </a:defRPr>
            </a:pPr>
            <a:r>
              <a:rPr sz="1800" b="1">
                <a:solidFill>
                  <a:srgbClr val="F5F7FA"/>
                </a:solidFill>
              </a:rPr>
              <a:t>Reconcile Thursday EOD before final submission</a:t>
            </a:r>
          </a:p>
        </p:txBody>
      </p:sp>
      <p:sp>
        <p:nvSpPr>
          <p:cNvPr id="8" name="">
            <a:extLst xmlns:a="http://schemas.openxmlformats.org/drawingml/2006/main">
              <a:ext uri="{FF2B5EF4-FFF2-40B4-BE49-F238E27FC236}">
                <a16:creationId xmlns:a16="http://schemas.microsoft.com/office/drawing/2014/main" id="{E7702431-3691-4A90-A6A9-F20072F3942C}"/>
              </a:ext>
            </a:extLst>
          </p:cNvPr>
          <p:cNvSpPr>
            <a:spLocks xmlns:a="http://schemas.openxmlformats.org/drawingml/2006/main" noGrp="1"/>
          </p:cNvSpPr>
          <p:nvPr/>
        </p:nvSpPr>
        <p:spPr>
          <a:xfrm xmlns:a="http://schemas.openxmlformats.org/drawingml/2006/main">
            <a:off x="7810500" y="3562350"/>
            <a:ext cx="3429000" cy="1790700"/>
          </a:xfrm>
          <a:prstGeom xmlns:a="http://schemas.openxmlformats.org/drawingml/2006/main" prst="roundRect">
            <a:avLst>
              <a:gd name="adj" fmla="val 4255"/>
            </a:avLst>
          </a:prstGeom>
          <a:solidFill xmlns:a="http://schemas.openxmlformats.org/drawingml/2006/main">
            <a:srgbClr val="0B2235"/>
          </a:solidFill>
          <a:ln xmlns:a="http://schemas.openxmlformats.org/drawingml/2006/main" w="9525">
            <a:solidFill>
              <a:srgbClr val="2ED9FF"/>
            </a:solidFill>
            <a:prstDash val="solid"/>
          </a:ln>
        </p:spPr>
      </p:sp>
      <p:sp>
        <p:nvSpPr>
          <p:cNvPr id="9" name="">
            <a:extLst xmlns:a="http://schemas.openxmlformats.org/drawingml/2006/main">
              <a:ext uri="{FF2B5EF4-FFF2-40B4-BE49-F238E27FC236}">
                <a16:creationId xmlns:a16="http://schemas.microsoft.com/office/drawing/2014/main" id="{BDD19F3D-2DDC-4CAD-B5F7-615696F73388}"/>
              </a:ext>
            </a:extLst>
          </p:cNvPr>
          <p:cNvSpPr>
            <a:spLocks xmlns:a="http://schemas.openxmlformats.org/drawingml/2006/main" noGrp="1"/>
          </p:cNvSpPr>
          <p:nvPr/>
        </p:nvSpPr>
        <p:spPr>
          <a:xfrm xmlns:a="http://schemas.openxmlformats.org/drawingml/2006/main">
            <a:off x="8115300" y="3924300"/>
            <a:ext cx="2819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625" b="1">
                <a:solidFill>
                  <a:srgbClr val="F5F7FA"/>
                </a:solidFill>
              </a:defRPr>
            </a:pPr>
            <a:r>
              <a:rPr sz="2625" b="1">
                <a:solidFill>
                  <a:srgbClr val="F5F7FA"/>
                </a:solidFill>
              </a:rPr>
              <a:t>AxiomWeave</a:t>
            </a:r>
          </a:p>
          <a:p xmlns:a="http://schemas.openxmlformats.org/drawingml/2006/main">
            <a:pPr algn="ctr">
              <a:buNone/>
              <a:defRPr sz="2625" b="1">
                <a:solidFill>
                  <a:srgbClr val="F5F7FA"/>
                </a:solidFill>
              </a:defRPr>
            </a:pPr>
            <a:r>
              <a:rPr sz="2625" b="1">
                <a:solidFill>
                  <a:srgbClr val="F5F7FA"/>
                </a:solidFill>
              </a:rPr>
              <a:t>AlphaLedger</a:t>
            </a:r>
          </a:p>
        </p:txBody>
      </p:sp>
      <p:sp>
        <p:nvSpPr>
          <p:cNvPr id="10" name="">
            <a:extLst xmlns:a="http://schemas.openxmlformats.org/drawingml/2006/main">
              <a:ext uri="{FF2B5EF4-FFF2-40B4-BE49-F238E27FC236}">
                <a16:creationId xmlns:a16="http://schemas.microsoft.com/office/drawing/2014/main" id="{FDBC1091-453D-4A59-B19A-DC53759F0A8C}"/>
              </a:ext>
            </a:extLst>
          </p:cNvPr>
          <p:cNvSpPr>
            <a:spLocks xmlns:a="http://schemas.openxmlformats.org/drawingml/2006/main" noGrp="1"/>
          </p:cNvSpPr>
          <p:nvPr/>
        </p:nvSpPr>
        <p:spPr>
          <a:xfrm xmlns:a="http://schemas.openxmlformats.org/drawingml/2006/main">
            <a:off x="8115300" y="489585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E5B95C"/>
                </a:solidFill>
              </a:defRPr>
            </a:pPr>
            <a:r>
              <a:rPr sz="1275" b="0">
                <a:solidFill>
                  <a:srgbClr val="E5B95C"/>
                </a:solidFill>
              </a:rPr>
              <a:t>Proof before profit</a:t>
            </a:r>
          </a:p>
        </p:txBody>
      </p:sp>
      <p:sp>
        <p:nvSpPr>
          <p:cNvPr id="11" name="">
            <a:extLst xmlns:a="http://schemas.openxmlformats.org/drawingml/2006/main">
              <a:ext uri="{FF2B5EF4-FFF2-40B4-BE49-F238E27FC236}">
                <a16:creationId xmlns:a16="http://schemas.microsoft.com/office/drawing/2014/main" id="{C8FBA54D-DAC0-41EE-8DE4-78A7D0A078B8}"/>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274258"/>
          </a:solidFill>
          <a:ln xmlns:a="http://schemas.openxmlformats.org/drawingml/2006/main" w="9525">
            <a:solidFill>
              <a:srgbClr val="274258"/>
            </a:solidFill>
            <a:prstDash val="solid"/>
          </a:ln>
        </p:spPr>
      </p:sp>
      <p:sp>
        <p:nvSpPr>
          <p:cNvPr id="12" name="">
            <a:extLst xmlns:a="http://schemas.openxmlformats.org/drawingml/2006/main">
              <a:ext uri="{FF2B5EF4-FFF2-40B4-BE49-F238E27FC236}">
                <a16:creationId xmlns:a16="http://schemas.microsoft.com/office/drawing/2014/main" id="{1A5F94D8-9E38-4BCC-BB33-389BBDD83A63}"/>
              </a:ext>
            </a:extLst>
          </p:cNvPr>
          <p:cNvSpPr>
            <a:spLocks xmlns:a="http://schemas.openxmlformats.org/drawingml/2006/main" noGrp="1"/>
          </p:cNvSpPr>
          <p:nvPr/>
        </p:nvSpPr>
        <p:spPr>
          <a:xfrm xmlns:a="http://schemas.openxmlformats.org/drawingml/2006/main">
            <a:off x="685800" y="65055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9FB2C2"/>
                </a:solidFill>
              </a:defRPr>
            </a:pPr>
            <a:r>
              <a:rPr sz="900" b="1">
                <a:solidFill>
                  <a:srgbClr val="9FB2C2"/>
                </a:solidFill>
              </a:rPr>
              <a:t>AXIOMWEAVE ALPHALEDGER</a:t>
            </a:r>
          </a:p>
        </p:txBody>
      </p:sp>
      <p:sp>
        <p:nvSpPr>
          <p:cNvPr id="13" name="">
            <a:extLst xmlns:a="http://schemas.openxmlformats.org/drawingml/2006/main">
              <a:ext uri="{FF2B5EF4-FFF2-40B4-BE49-F238E27FC236}">
                <a16:creationId xmlns:a16="http://schemas.microsoft.com/office/drawing/2014/main" id="{CEAA2ADB-16FD-4125-A80F-FC72B45279EC}"/>
              </a:ext>
            </a:extLst>
          </p:cNvPr>
          <p:cNvSpPr>
            <a:spLocks xmlns:a="http://schemas.openxmlformats.org/drawingml/2006/main" noGrp="1"/>
          </p:cNvSpPr>
          <p:nvPr/>
        </p:nvSpPr>
        <p:spPr>
          <a:xfrm xmlns:a="http://schemas.openxmlformats.org/drawingml/2006/main">
            <a:off x="1102995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E5B95C"/>
                </a:solidFill>
              </a:defRPr>
            </a:pPr>
            <a:r>
              <a:rPr sz="900" b="1">
                <a:solidFill>
                  <a:srgbClr val="E5B95C"/>
                </a:solidFill>
              </a:rPr>
              <a:t>10</a:t>
            </a:r>
          </a:p>
        </p:txBody>
      </p:sp>
    </p:spTree>
    <p:extLst>
      <p:ext uri="{BB962C8B-B14F-4D97-AF65-F5344CB8AC3E}">
        <p14:creationId xmlns:p14="http://schemas.microsoft.com/office/powerpoint/2010/main" val="606396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2026-08-31T15:12:00.5210000Z</dcterms:created>
  <dcterms:modified xsi:type="dcterms:W3CDTF">2026-08-31T15:12:00.5210000Z</dcterms:modified>
</coreProperties>
</file>